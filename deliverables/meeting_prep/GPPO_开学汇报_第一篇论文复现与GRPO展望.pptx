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15a7fad34f4f5d" /><Relationship Type="http://schemas.openxmlformats.org/officeDocument/2006/relationships/extended-properties" Target="/docProps/app.xml" Id="R6c6c005aca9641a9" /><Relationship Type="http://schemas.openxmlformats.org/officeDocument/2006/relationships/officeDocument" Target="/ppt/presentation.xml" Id="Rdf449903b5b247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944a3d927245f5"/>
  </p:sldMasterIdLst>
  <p:notesMasterIdLst>
    <p:notesMasterId xmlns:r="http://schemas.openxmlformats.org/officeDocument/2006/relationships" r:id="Rb9c9b7b2a14f4b25"/>
  </p:notesMasterIdLst>
  <p:sldIdLst>
    <p:sldId xmlns:r="http://schemas.openxmlformats.org/officeDocument/2006/relationships" id="256" r:id="R8c298c91f3ac49ef"/>
    <p:sldId xmlns:r="http://schemas.openxmlformats.org/officeDocument/2006/relationships" id="257" r:id="R716cc52d3e9e4287"/>
    <p:sldId xmlns:r="http://schemas.openxmlformats.org/officeDocument/2006/relationships" id="258" r:id="R11ef31c98a8541b3"/>
    <p:sldId xmlns:r="http://schemas.openxmlformats.org/officeDocument/2006/relationships" id="259" r:id="R8b2508c3c5c64ca1"/>
    <p:sldId xmlns:r="http://schemas.openxmlformats.org/officeDocument/2006/relationships" id="260" r:id="R7e90ea337fd14e25"/>
    <p:sldId xmlns:r="http://schemas.openxmlformats.org/officeDocument/2006/relationships" id="261" r:id="R5523a27b459248f0"/>
    <p:sldId xmlns:r="http://schemas.openxmlformats.org/officeDocument/2006/relationships" id="262" r:id="R5efb8b3ae495408c"/>
    <p:sldId xmlns:r="http://schemas.openxmlformats.org/officeDocument/2006/relationships" id="263" r:id="Rdfff7ffd9e294a73"/>
    <p:sldId xmlns:r="http://schemas.openxmlformats.org/officeDocument/2006/relationships" id="264" r:id="Ra1c43d1158ae4902"/>
    <p:sldId xmlns:r="http://schemas.openxmlformats.org/officeDocument/2006/relationships" id="265" r:id="R8b9350349a024cc5"/>
    <p:sldId xmlns:r="http://schemas.openxmlformats.org/officeDocument/2006/relationships" id="266" r:id="Rb831548a30e249b5"/>
    <p:sldId xmlns:r="http://schemas.openxmlformats.org/officeDocument/2006/relationships" id="267" r:id="R350395f94a20427f"/>
    <p:sldId xmlns:r="http://schemas.openxmlformats.org/officeDocument/2006/relationships" id="268" r:id="Ra6e66bfbeb1a4ce6"/>
    <p:sldId xmlns:r="http://schemas.openxmlformats.org/officeDocument/2006/relationships" id="269" r:id="Rfa759f0535544acf"/>
    <p:sldId xmlns:r="http://schemas.openxmlformats.org/officeDocument/2006/relationships" id="270" r:id="Ra6a7e70456fc4d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1296dd25f44c4e" /><Relationship Type="http://schemas.openxmlformats.org/officeDocument/2006/relationships/slideMaster" Target="/ppt/slideMasters/slideMaster1.xml" Id="Re4944a3d927245f5" /><Relationship Type="http://schemas.openxmlformats.org/officeDocument/2006/relationships/notesMaster" Target="/ppt/notesMasters/notesMaster1.xml" Id="Rb9c9b7b2a14f4b25" /><Relationship Type="http://schemas.openxmlformats.org/officeDocument/2006/relationships/presProps" Target="/ppt/presProps.xml" Id="Rb9a36b4e646a4f42" /><Relationship Type="http://schemas.openxmlformats.org/officeDocument/2006/relationships/tableStyles" Target="/ppt/tableStyles.xml" Id="Rcb97590da8ca4d2c" /><Relationship Type="http://schemas.openxmlformats.org/officeDocument/2006/relationships/slide" Target="/ppt/slides/slide1.xml" Id="R8c298c91f3ac49ef" /><Relationship Type="http://schemas.openxmlformats.org/officeDocument/2006/relationships/slide" Target="/ppt/slides/slide2.xml" Id="R716cc52d3e9e4287" /><Relationship Type="http://schemas.openxmlformats.org/officeDocument/2006/relationships/slide" Target="/ppt/slides/slide3.xml" Id="R11ef31c98a8541b3" /><Relationship Type="http://schemas.openxmlformats.org/officeDocument/2006/relationships/slide" Target="/ppt/slides/slide4.xml" Id="R8b2508c3c5c64ca1" /><Relationship Type="http://schemas.openxmlformats.org/officeDocument/2006/relationships/slide" Target="/ppt/slides/slide5.xml" Id="R7e90ea337fd14e25" /><Relationship Type="http://schemas.openxmlformats.org/officeDocument/2006/relationships/slide" Target="/ppt/slides/slide6.xml" Id="R5523a27b459248f0" /><Relationship Type="http://schemas.openxmlformats.org/officeDocument/2006/relationships/slide" Target="/ppt/slides/slide7.xml" Id="R5efb8b3ae495408c" /><Relationship Type="http://schemas.openxmlformats.org/officeDocument/2006/relationships/slide" Target="/ppt/slides/slide8.xml" Id="Rdfff7ffd9e294a73" /><Relationship Type="http://schemas.openxmlformats.org/officeDocument/2006/relationships/slide" Target="/ppt/slides/slide9.xml" Id="Ra1c43d1158ae4902" /><Relationship Type="http://schemas.openxmlformats.org/officeDocument/2006/relationships/slide" Target="/ppt/slides/slide10.xml" Id="R8b9350349a024cc5" /><Relationship Type="http://schemas.openxmlformats.org/officeDocument/2006/relationships/slide" Target="/ppt/slides/slide11.xml" Id="Rb831548a30e249b5" /><Relationship Type="http://schemas.openxmlformats.org/officeDocument/2006/relationships/slide" Target="/ppt/slides/slide12.xml" Id="R350395f94a20427f" /><Relationship Type="http://schemas.openxmlformats.org/officeDocument/2006/relationships/slide" Target="/ppt/slides/slide13.xml" Id="Ra6e66bfbeb1a4ce6" /><Relationship Type="http://schemas.openxmlformats.org/officeDocument/2006/relationships/slide" Target="/ppt/slides/slide14.xml" Id="Rfa759f0535544acf" /><Relationship Type="http://schemas.openxmlformats.org/officeDocument/2006/relationships/slide" Target="/ppt/slides/slide15.xml" Id="Ra6a7e70456fc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513e9463ca43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6236ead137457d" /><Relationship Type="http://schemas.openxmlformats.org/officeDocument/2006/relationships/notesMaster" Target="/ppt/notesMasters/notesMaster1.xml" Id="R10c842f5191b44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ce26df244e45b8" /><Relationship Type="http://schemas.openxmlformats.org/officeDocument/2006/relationships/notesMaster" Target="/ppt/notesMasters/notesMaster1.xml" Id="R2389e3c631804a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f1325dd0e74dd3" /><Relationship Type="http://schemas.openxmlformats.org/officeDocument/2006/relationships/notesMaster" Target="/ppt/notesMasters/notesMaster1.xml" Id="R9ae6e2c4a45445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521669eddb40c0" /><Relationship Type="http://schemas.openxmlformats.org/officeDocument/2006/relationships/notesMaster" Target="/ppt/notesMasters/notesMaster1.xml" Id="R931361dc8eca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f0a7d513d74c4a" /><Relationship Type="http://schemas.openxmlformats.org/officeDocument/2006/relationships/notesMaster" Target="/ppt/notesMasters/notesMaster1.xml" Id="R70da93d4bf9840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962febc3584112" /><Relationship Type="http://schemas.openxmlformats.org/officeDocument/2006/relationships/notesMaster" Target="/ppt/notesMasters/notesMaster1.xml" Id="R7af80724eb5b48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17045608d34d40" /><Relationship Type="http://schemas.openxmlformats.org/officeDocument/2006/relationships/notesMaster" Target="/ppt/notesMasters/notesMaster1.xml" Id="Rd3c5dc9b5e5c42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edc8b47e8c490b" /><Relationship Type="http://schemas.openxmlformats.org/officeDocument/2006/relationships/notesMaster" Target="/ppt/notesMasters/notesMaster1.xml" Id="R33ebece5596849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8abf3a12e04396" /><Relationship Type="http://schemas.openxmlformats.org/officeDocument/2006/relationships/notesMaster" Target="/ppt/notesMasters/notesMaster1.xml" Id="R073f8465355641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6023a578cb4203" /><Relationship Type="http://schemas.openxmlformats.org/officeDocument/2006/relationships/notesMaster" Target="/ppt/notesMasters/notesMaster1.xml" Id="R2bce77d2ab0e4f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dae06acd1f4775" /><Relationship Type="http://schemas.openxmlformats.org/officeDocument/2006/relationships/notesMaster" Target="/ppt/notesMasters/notesMaster1.xml" Id="R7163f6145c764d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33108fe1574490" /><Relationship Type="http://schemas.openxmlformats.org/officeDocument/2006/relationships/notesMaster" Target="/ppt/notesMasters/notesMaster1.xml" Id="R13e590e0a8324f8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a7c8fd606740bf" /><Relationship Type="http://schemas.openxmlformats.org/officeDocument/2006/relationships/notesMaster" Target="/ppt/notesMasters/notesMaster1.xml" Id="Rb8d6a6dc795b47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6b6cea104346fb" /><Relationship Type="http://schemas.openxmlformats.org/officeDocument/2006/relationships/notesMaster" Target="/ppt/notesMasters/notesMaster1.xml" Id="Rd5f93471e46f4e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8220a5170e40a6" /><Relationship Type="http://schemas.openxmlformats.org/officeDocument/2006/relationships/notesMaster" Target="/ppt/notesMasters/notesMaster1.xml" Id="Rd2cc8a14320b48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开场先明确定位：这是第一篇论文的阶段复现汇报，不是新算法答辩。重点是把问题、方法、代码链路、300轮证据和后续决策讲清楚。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https://www.neu.edu.cn/xygk/ddbs.htm</a:t>
            </a:r>
          </a:p>
          <a:p xmlns:a="http://schemas.openxmlformats.org/drawingml/2006/main">
            <a:r>
              <a:t>- https://sce.neu.edu.cn/2026/0506/c10628a453302/page.htm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目录控制在四部分。汇报逻辑先讲清楚第一篇论文，再展示证据，最后只把第二篇论文定位成会议后的研究候选。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E:/Z博士/github_submission/GPPO-paper-faithful-clean/docs/OPENING_MEETING_STUDY_WORKBOOK_ZH.md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这一页直接回应当前计划：已有300轮已经满足“亲自跑完全流程”的训练实践目标。现在的学习产出应该是能解释链路和结果，而不是重复消耗算力。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UAV与任务形成异构动态图，动作不是一个抽象类别，而是从当前合法的UAV–task配对中选择。弱通信使观测与真实状态之间出现差异。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Multi-UAV Dynamic Task Assignment Based on Event-Triggered Graph Reinforcement Learning Under Weak Communication (local PDF)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建议讲代码时严格沿1到6的顺序。事件通信作为观测和belief更新的旁路机制，同时影响策略输入和通信代价。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E:/Z博士/github_submission/GPPO-paper-faithful-clean/scripts/train_paper_faithful.py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动作掩码是训练稳定性和环境可执行性的关键。即使策略给非法配对很高分，mask也会在采样前过滤它。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First paper PDF, problem formulation and action selection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理解重点是三层：关系注意力决定从谁取信息，Gate决定新旧信息如何融合，pair actor将节点表征变成动作分数。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 paper PDF, AHGNN equations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300轮训练已经完成。复盘时重点是理解每个日志字段属于训练稳定性、策略性能还是选模证据，不能只盯最终reward。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E:/Z博士/github_submission/GPPO-paper-faithful-clean/scripts/train_paper_faithful.py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这页澄清300轮和后续验证的关系：没有再训练第二个同类模型，验证是围绕已有checkpoint展开的固定测试、回放和机制审计。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- E:/Z博士/github_submission/GPPO-paper-faithful-clean/reports/GATE_THREE_SEED_SCREENING.md</a:t>
            </a:r>
          </a:p>
          <a:p xmlns:a="http://schemas.openxmlformats.org/drawingml/2006/main">
            <a:r>
              <a:t>- E:/Z博士/github_submission/GPPO-paper-faithful-clean/deliverables/phase1b/DISTURBANCE_CALIBRATION.md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主要正向证据是GPPO-event明显优于两个PPO基线。与此同时，NoGate和SingleHead在该次固定测试中略优于Literal Adaptive，必须如实保留。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E:/Z博士/github_submission/GPPO-paper-faithful-clean/deliverables/stage1_gallery/phase1a_method_comparison.png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Event和Full是相同checkpoint在不同通信回放模式下的对照。任务质量不变而字节数下降99.93%，这是现阶段最清晰的机制收益。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E:/Z博士/github_submission/GPPO-paper-faithful-clean/deliverables/stage1_gallery/phase1a_communication_tradeoff.png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Gate均值和梯度证明实现没有失效，但单种子与三种子筛选都不支持夸大Adaptive收益。Phase1B的贡献是可审计扰动环境，不是新算法。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E:/Z博士/github_submission/GPPO-paper-faithful-clean/deliverables/stage1_gallery/phase1a_gate_screening.png</a:t>
            </a:r>
          </a:p>
          <a:p xmlns:a="http://schemas.openxmlformats.org/drawingml/2006/main">
            <a:r>
              <a:t>- E:/Z博士/github_submission/GPPO-paper-faithful-clean/reports/GATE_THREE_SEED_SCREENING.md</a:t>
            </a:r>
          </a:p>
          <a:p xmlns:a="http://schemas.openxmlformats.org/drawingml/2006/main">
            <a:r>
              <a:t>- E:/Z博士/github_submission/GPPO-paper-faithful-clean/deliverables/stage1_gallery/phase1b_severity_calibration.png</a:t>
            </a:r>
          </a:p>
          <a:p xmlns:a="http://schemas.openxmlformats.org/drawingml/2006/main">
            <a:r>
              <a:t>- E:/Z博士/github_submission/GPPO-paper-faithful-clean/deliverables/phase1b/DISTURBANCE_IMPLEMENTATION_AUDIT.json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主动说明复现边界能提升可信度。原论文完整环境和随机细节无法完全获得，因此当前成果是机制复现、代码审计和相对结论验证。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- First paper PDF and local reproduction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目前只需弄清第二篇论文如何表示偏好、如何做多目标权衡，以及这些思想是否可能连接到任务分配。具体改GRPO还是PPO要等会议明确研究对象。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Preference Controllable Reinforcement Learning with Advanced Multi-Objective Optimization (local PDF)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会议前不继续扩展实验矩阵。四个问题得到明确答案后，再决定GRPO/RLHF具体实现、偏好数据和评估协议。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- E:/Z博士/github_submission/GPPO-paper-faithful-clean/docs/OPENING_MEETING_ORAL_REHEARSAL_ZH.md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c90aa4e8a141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346fc70e6b4ac8" /><Relationship Type="http://schemas.openxmlformats.org/officeDocument/2006/relationships/slideLayout" Target="/ppt/slideLayouts/slideLayout1.xml" Id="Rdc2eea25617645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2eea25617645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f896247c841f0" /><Relationship Type="http://schemas.openxmlformats.org/officeDocument/2006/relationships/image" Target="/ppt/media/image.png" Id="Rf28d8640e1424a17" /><Relationship Type="http://schemas.openxmlformats.org/officeDocument/2006/relationships/notesSlide" Target="/ppt/notesSlides/notesSlide1.xml" Id="R4d3a637aec9645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2b89568a342e0" /><Relationship Type="http://schemas.openxmlformats.org/officeDocument/2006/relationships/notesSlide" Target="/ppt/notesSlides/notesSlide2.xml" Id="R7f87325806ea4a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90f42dad44579" /><Relationship Type="http://schemas.openxmlformats.org/officeDocument/2006/relationships/notesSlide" Target="/ppt/notesSlides/notesSlide3.xml" Id="R08de31a9d2cc42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8b4dc67544761" /><Relationship Type="http://schemas.openxmlformats.org/officeDocument/2006/relationships/notesSlide" Target="/ppt/notesSlides/notesSlide4.xml" Id="Rba5cd31f03cd4b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4d65abf3a4047" /><Relationship Type="http://schemas.openxmlformats.org/officeDocument/2006/relationships/notesSlide" Target="/ppt/notesSlides/notesSlide5.xml" Id="Raee871a2e35840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23421ccb24157" /><Relationship Type="http://schemas.openxmlformats.org/officeDocument/2006/relationships/notesSlide" Target="/ppt/notesSlides/notesSlide6.xml" Id="R9b80943fc42e49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4d8857e01467b" /><Relationship Type="http://schemas.openxmlformats.org/officeDocument/2006/relationships/notesSlide" Target="/ppt/notesSlides/notesSlide7.xml" Id="R32feb808cb9c46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62a7a62934fee" /><Relationship Type="http://schemas.openxmlformats.org/officeDocument/2006/relationships/notesSlide" Target="/ppt/notesSlides/notesSlide8.xml" Id="Rb713b9f11c004e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497e4e5ef4a00" /><Relationship Type="http://schemas.openxmlformats.org/officeDocument/2006/relationships/notesSlide" Target="/ppt/notesSlides/notesSlide9.xml" Id="R78e32503df3844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c112a475e4d89" /><Relationship Type="http://schemas.openxmlformats.org/officeDocument/2006/relationships/image" Target="/ppt/media/image2.png" Id="R2c3b13495a03437a" /><Relationship Type="http://schemas.openxmlformats.org/officeDocument/2006/relationships/notesSlide" Target="/ppt/notesSlides/notesSlide10.xml" Id="R800321c419c241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dee6470b14c4b" /><Relationship Type="http://schemas.openxmlformats.org/officeDocument/2006/relationships/image" Target="/ppt/media/image3.png" Id="R3e2d1a043479478f" /><Relationship Type="http://schemas.openxmlformats.org/officeDocument/2006/relationships/notesSlide" Target="/ppt/notesSlides/notesSlide11.xml" Id="Rbd5f51bd758d4f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93b3f0ac44364" /><Relationship Type="http://schemas.openxmlformats.org/officeDocument/2006/relationships/image" Target="/ppt/media/image4.png" Id="Rc7eed5356104431d" /><Relationship Type="http://schemas.openxmlformats.org/officeDocument/2006/relationships/image" Target="/ppt/media/image5.png" Id="Re39452362421415b" /><Relationship Type="http://schemas.openxmlformats.org/officeDocument/2006/relationships/notesSlide" Target="/ppt/notesSlides/notesSlide12.xml" Id="R438107b5180041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feef373fc4272" /><Relationship Type="http://schemas.openxmlformats.org/officeDocument/2006/relationships/notesSlide" Target="/ppt/notesSlides/notesSlide13.xml" Id="Radebefe4447349e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a81946bf04aac" /><Relationship Type="http://schemas.openxmlformats.org/officeDocument/2006/relationships/notesSlide" Target="/ppt/notesSlides/notesSlide14.xml" Id="R620d341265bc4e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6f99ec5f2496d" /><Relationship Type="http://schemas.openxmlformats.org/officeDocument/2006/relationships/image" Target="/ppt/media/image6.png" Id="R493f9f68aadd47ee" /><Relationship Type="http://schemas.openxmlformats.org/officeDocument/2006/relationships/notesSlide" Target="/ppt/notesSlides/notesSlide15.xml" Id="R0eaeebb02ee442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7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3D9445-6878-479E-9E14-7732B96D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334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EA0F3-A997-4D41-AE81-28C874B8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0C997-4C30-4E11-B3A1-A6B523AF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3D90F-80D4-4F13-B41F-5CF48F1C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76375"/>
            <a:ext cx="925830" cy="642938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9417F-A4D9-4523-BE3F-3684154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994" y="1219200"/>
            <a:ext cx="1234440" cy="900113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D64AD"/>
          </a:solidFill>
          <a:ln xmlns:a="http://schemas.openxmlformats.org/drawingml/2006/main" w="9525">
            <a:solidFill>
              <a:srgbClr val="2D64A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36633-AA67-4417-B4AA-8D07433E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1553528"/>
            <a:ext cx="745808" cy="56578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58D58-EEA7-4DEB-92BC-8E8F5080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068" y="2286476"/>
            <a:ext cx="2108835" cy="38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538A7-D118-4B16-A6B5-1984BB2E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068" y="2453640"/>
            <a:ext cx="2108835" cy="38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A35B2-C86A-478A-8940-C004A074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068" y="2620804"/>
            <a:ext cx="2108835" cy="38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1EE58-4260-4392-AC2A-445295CB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d8640e1424a17"/>
          <a:stretch xmlns:a="http://schemas.openxmlformats.org/drawingml/2006/main"/>
        </p:blipFill>
        <p:spPr>
          <a:xfrm xmlns:a="http://schemas.openxmlformats.org/drawingml/2006/main">
            <a:off x="523875" y="469789"/>
            <a:ext cx="342900" cy="317722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227EA-2402-4354-A9C5-F9952BC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东北大学 · 阶段汇报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554DF-42FA-4DF3-BEE3-5400825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6572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GPPO 多无人机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动态任务分配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786167-2CF4-47A2-B1AC-67C9AFF6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2F7C0-61FB-4D3A-99CA-0BB35E85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81425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7E6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7E6F6"/>
                </a:solidFill>
                <a:latin typeface="Microsoft YaHei"/>
                <a:ea typeface="Microsoft YaHei"/>
                <a:cs typeface="Microsoft YaHei"/>
              </a:rPr>
              <a:t>第一阶段总结｜机制复现 · 300 轮验证 · 后续研究准备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A42214-6D7C-4509-A36F-5B1E960A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1981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33B6B"/>
          </a:solidFill>
          <a:ln xmlns:a="http://schemas.openxmlformats.org/drawingml/2006/main" w="9525">
            <a:solidFill>
              <a:srgbClr val="133B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AC368-0E40-4444-8B18-A689D5F4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482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当前不追加重复训练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9FBF12-1C10-4A19-8136-FD993FF8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00600"/>
            <a:ext cx="1695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33B6B"/>
          </a:solidFill>
          <a:ln xmlns:a="http://schemas.openxmlformats.org/drawingml/2006/main" w="9525">
            <a:solidFill>
              <a:srgbClr val="133B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1296C2-688C-4FE8-8D41-E44BF680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48225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为开学会议准备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3EE43-8154-40F1-A6E1-3B5E3ED8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FC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FC6DE"/>
                </a:solidFill>
                <a:latin typeface="Microsoft YaHei"/>
                <a:ea typeface="Microsoft YaHei"/>
                <a:cs typeface="Microsoft YaHei"/>
              </a:rPr>
              <a:t>GPPO / Event-triggered communication / Preference learning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7C274B-8EC0-4A8E-BE6D-880AA9E9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10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RESEARCH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9EB5D8-6DC3-4FBC-A3DD-6CBEB655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5772150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3E3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3E3F4"/>
                </a:solidFill>
                <a:latin typeface="Microsoft YaHei"/>
                <a:ea typeface="Microsoft YaHei"/>
                <a:cs typeface="Microsoft YaHei"/>
              </a:rPr>
              <a:t>2026.08</a:t>
            </a:r>
          </a:p>
        </p:txBody>
      </p:sp>
    </p:spTree>
    <p:extLst>
      <p:ext uri="{BB962C8B-B14F-4D97-AF65-F5344CB8AC3E}">
        <p14:creationId xmlns:p14="http://schemas.microsoft.com/office/powerpoint/2010/main" val="14004795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B1188-0821-4EAB-9AC4-65470C15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1E80F-E3F3-4C81-AC15-CB5929CE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汇报目录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88625-626B-4E3F-9783-11D391E2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从论文机制到后续研究决策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258F8-1DC3-4E74-BD05-DE66898C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E99A4-B4A0-4D40-8C43-7014B951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9F92A-49EE-4FCC-A4E6-E23BCEC1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AB99D-545A-4D0A-97EA-563CA7F8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6BF3C-6AF1-4A1A-B0BA-66EF2134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FF305-0998-44A2-BCC7-A13364A8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859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问题与方法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1B2FE-D0C1-47C9-9807-F50416DE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任务建模、异构图、AHGNN 与事件通信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9C9A2-72D7-4FB2-B8AB-A1744268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D80C33-A127-487C-B233-C1A313A2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7F9"/>
          </a:solidFill>
          <a:ln xmlns:a="http://schemas.openxmlformats.org/drawingml/2006/main" w="9525">
            <a:solidFill>
              <a:srgbClr val="E8F7F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139561-C6A5-4150-B46D-3B2EE478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6690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5366E-5B64-40B1-8DB1-06CD6D76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859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代码与实验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155FD-A07E-41FA-BD41-80A17671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003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训练链路、300轮证据与固定 test100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C7ADB-2DC1-4E8D-BD7A-058A43B7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7C430-B2EF-4489-BDA3-69D44EA4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7C33E-978D-4894-8BC8-DD84D0ED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BDD4C-6234-4C42-A08A-DF83A9F7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862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结果与边界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51DA1-22A1-4D73-A54D-ACF5C88E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方法对照、通信收益、Gate 与扰动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7AC98A-ABF3-415F-97C4-0D511442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2920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56D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A37042-D705-49C9-B03B-2DB7E681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7665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4BA781-3DFD-4AC6-9DBA-8F197851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6715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C6F0E-5DCB-4735-86F1-1E06780E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862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后续计划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684C97-0BD5-4990-9511-A2CBB5F7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005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偏好学习定位与开学会议问题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119B61-558C-451C-ABB2-43B92CA9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2920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818"/>
          </a:solidFill>
          <a:ln xmlns:a="http://schemas.openxmlformats.org/drawingml/2006/main" w="9525">
            <a:solidFill>
              <a:srgbClr val="D9781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03495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ECCE9-EBD3-44A8-824B-897704CE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93EFC-4079-4E0D-A9F7-CD66CC27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阶段定位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28E57-3F78-4AE9-B86F-86B76D22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现在的任务不是继续跑，而是把 300 轮讲明白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8DB92-290D-4AE7-AD84-0761ABDB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4D752-A2F5-462A-921A-26D86940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B967E-9E8B-4B89-9F27-3DF758DB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68C4BB-ED0D-487D-84F6-DAAD55BE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516F8-CA40-447F-92F5-50873E8E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56D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62656D-EB7B-47D4-AA9C-BB870445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49B34-DC6E-4C52-A26E-89649879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第一篇方法链路已经实现并跑通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已有单种子 300 轮训练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已完成固定 test100 与机制审计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Event、Gate、扰动证据均已保存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E1860-5CAB-4857-91C8-71929B69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58D3A-8D2C-4B37-94CB-2F12DA5E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74056-2D16-4337-9795-4880B0D3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现在要做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DE4838-5CA8-443C-A280-F603175C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逐模块理解环境、图网络与 PPO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从代码入口解释到指标输出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根据已有结果回答“为什么”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整理复现边界与会议问题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56ECD8-F2E8-45C1-849F-5FBAA494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FA17B-CE21-4773-B11A-5A389099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818"/>
          </a:solidFill>
          <a:ln xmlns:a="http://schemas.openxmlformats.org/drawingml/2006/main" w="9525">
            <a:solidFill>
              <a:srgbClr val="D9781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EA5EE-5019-4F40-ABD7-1A98E6B5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会议后再决定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3F220-0B1C-45D6-9D20-EF6860A3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研究对象是否仍是任务分配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GRPO 替代 PPO 的具体接口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偏好信号与多目标的来源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• 新实验矩阵和评价指标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647F2-137C-43A0-B4DC-C61D9F7B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11391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E2374-7AA2-4CFE-BC09-4A61E9AA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结论：之前的 300 轮就是现阶段的主训练，不需要再跑一份同类实验。</a:t>
            </a:r>
          </a:p>
        </p:txBody>
      </p:sp>
    </p:spTree>
    <p:extLst>
      <p:ext uri="{BB962C8B-B14F-4D97-AF65-F5344CB8AC3E}">
        <p14:creationId xmlns:p14="http://schemas.microsoft.com/office/powerpoint/2010/main" val="21090197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7E5E0B-49C6-44CA-929A-9894FE80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33214-C536-43F4-9D70-1A4E8FB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CE2D3-4183-442C-AEC6-75F56982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动态多无人机任务分配：在弱通信下持续做可执行决策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84F20-1FCA-4F43-B1E6-E26A14B7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F2257-7066-4FAE-A35A-22AFA9B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20AF0-30C3-47A2-A10E-AE4ABD9F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9536A-E8BF-4153-A756-B9CA115B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现实约束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09F23-84A5-4F5B-844F-1A29E800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85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8A9E0-E382-4439-B179-9D677DE9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F2956-9BEC-4832-9C6F-A3B4B0FC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动态到达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14BEA-47D4-4EFC-9D16-9BEA4EB8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任务在执行过程中随机出现，策略不能只做一次静态匹配。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5BAC9-514F-4D3D-ABD0-EA953219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285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7F9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D97889-4242-4B36-8229-66C27F1E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8D86C-42E1-4074-BC4E-08C6C2C4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766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能力异构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97312-DAF5-46BA-B7E3-001F861E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14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不同 UAV 的速度、能力与任务适配关系不同。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A0399-63DB-4DD3-8434-D3FDC179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126D5-5DA6-48F6-BD3C-031A3E67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818"/>
          </a:solidFill>
          <a:ln xmlns:a="http://schemas.openxmlformats.org/drawingml/2006/main" w="9525">
            <a:solidFill>
              <a:srgbClr val="D978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9FE88-27BA-4CF8-A264-C7D362FE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通信受限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C59F8-47FD-4757-9B3F-1CD74BDE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局部 belief 可能过时，需要控制信息同步的时机和代价。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73A4FA-4511-42E4-8100-C8FE5161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决策对象：可行的 UAV–task pair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B914B4-3559-4E22-8455-53EE49E4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4790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5096C-C71E-455C-95C2-9D651A20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9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5B84F-8AE7-49BB-A484-805C1F10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4805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729C0D-B5D2-463E-B184-1398459C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195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CEC06-D5D4-4C6F-BE98-49F988F8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4820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22ABDE-4EB5-4A57-B78C-C6912874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96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219109-A360-480E-897C-5A6416C9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9550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494746-0AA8-4595-B674-6C380D8E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669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侦察任务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051601-6E25-4740-845F-DFD86143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9565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240BE-C620-47E6-971C-26D9AB0C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67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运输任务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E42C4F-9908-4093-99B9-224860C1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9580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70368E-DA67-4729-96C3-57D0BA12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667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应急任务</a:t>
            </a:r>
          </a:p>
        </p:txBody>
      </p:sp>
      <p:cxnSp>
        <p:nvCxnSpPr>
          <p:cNvPr id="76" name=""/>
          <p:cNvCxnSpPr>
            <a:stCxn xmlns:a="http://schemas.openxmlformats.org/drawingml/2006/main" id="21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 flipV="1">
            <a:off x="5715000" y="240982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74A91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1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715000" y="2562225"/>
            <a:ext cx="3676650" cy="22479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E1EA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 flipV="1">
            <a:off x="5715000" y="360997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856D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 flipV="1">
            <a:off x="5715000" y="2409825"/>
            <a:ext cx="3676650" cy="25527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E1EA"/>
            </a:solidFill>
            <a:prstDash val="solid"/>
            <a:tailEnd type="arrow" w="sm" len="sm"/>
          </a:ln>
        </p:spPr>
      </p:cxnSp>
      <p:cxnSp>
        <p:nvCxnSpPr>
          <p:cNvPr id="80" name=""/>
          <p:cNvCxnSpPr>
            <a:stCxn xmlns:a="http://schemas.openxmlformats.org/drawingml/2006/main" id="25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 flipV="1">
            <a:off x="5715000" y="481012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7818"/>
            </a:solidFill>
            <a:prstDash val="solid"/>
            <a:tailEnd type="arrow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18A8F7-F758-41C3-A201-4E21C20A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619750"/>
            <a:ext cx="1600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E6000F-F4D1-4E23-AB31-81518BB7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667375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目标：完成任务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58164D-9450-4285-9CD7-6F3C6160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619750"/>
            <a:ext cx="1390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13BCCA-A01F-4085-95E9-A352D941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673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↓ makespan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36C00D-0490-46E7-82D1-B2A75EA4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619750"/>
            <a:ext cx="1390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CD2E84-347D-47B5-AF3A-39FACD61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673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↓ 通信代价</a:t>
            </a:r>
          </a:p>
        </p:txBody>
      </p:sp>
    </p:spTree>
    <p:extLst>
      <p:ext uri="{BB962C8B-B14F-4D97-AF65-F5344CB8AC3E}">
        <p14:creationId xmlns:p14="http://schemas.microsoft.com/office/powerpoint/2010/main" val="11034801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BC0DB07-C22A-4ABF-8D95-45AE4BBA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08973-5C11-464B-9F57-1AB69B37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37DF8-1336-401B-B805-F6BF4807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端到端方法链：状态如何变成一次分配动作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2BBCA-355E-4292-97CC-A9B1E7DD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4A906-FD26-4A4B-8401-7F38A8F7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15397-E014-4D09-9D24-A4B11B5B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68AAF-4977-4516-ACB4-2C0C9C6E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EEF2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7CF0E-D0BE-4612-8CE5-55CA8C2E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CA16-BC59-4384-9C12-D08A166F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动态环境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500F2-F002-4D03-9A36-FDAFCF35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40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任务到达 / UAV状态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91C67-3492-45B1-90FA-F52E8CDB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F1EC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8FE04-B9DA-49E1-840B-460D3FDF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6B01D-7E81-4793-9A56-B12A40C4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异构图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DDD90-6AF9-49B8-873B-658FACF8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1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节点、关系、边特征</a:t>
            </a:r>
          </a:p>
        </p:txBody>
      </p: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9812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876A1-4C55-4CFF-8F70-F37BA507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BD29C-9607-478C-A181-7A9EAC37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943DD-A84F-4251-9498-59DB5EA0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AHGNN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ED77FA-D219-4AA0-9665-286C9F26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注意力 + Gate</a:t>
            </a:r>
          </a:p>
        </p:txBody>
      </p:sp>
      <p:cxnSp>
        <p:nvCxnSpPr>
          <p:cNvPr id="67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90525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EB4A87-D660-4DAB-9BCB-4959744B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DC009F-F6C1-4BD9-9E9D-F427D38E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F6CEC-E804-45C4-811E-F521CB3B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动作掩码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E4495A-CBDC-4383-A7AE-A13E6721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过滤非法 pair</a:t>
            </a:r>
          </a:p>
        </p:txBody>
      </p:sp>
      <p:cxnSp>
        <p:nvCxnSpPr>
          <p:cNvPr id="72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8293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7A7E66-C85F-45DE-8D71-ED707491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63A624-D3F4-4CA1-9372-13CA334D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C78395-75B6-403D-B11C-8B225B8A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901DD5-F3ED-4D7F-A5C7-C338B121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采样分配动作</a:t>
            </a:r>
          </a:p>
        </p:txBody>
      </p:sp>
      <p:cxnSp>
        <p:nvCxnSpPr>
          <p:cNvPr id="77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75335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68BA82-E481-41B5-B0CC-90EF007E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FCEC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E5CB0B-DB2C-4637-AF16-F2F29569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3475B3-945E-4C43-AF30-26901C89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PPO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C97E93-953D-45CB-B8BA-80D5918F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17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GAE + clipped update</a:t>
            </a:r>
          </a:p>
        </p:txBody>
      </p:sp>
      <p:cxnSp>
        <p:nvCxnSpPr>
          <p:cNvPr id="82" name=""/>
          <p:cNvCxnSpPr>
            <a:stCxn xmlns:a="http://schemas.openxmlformats.org/drawingml/2006/main" id="26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96774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89621A-376F-4EC1-8C98-73610288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13919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0E3F24-0E62-4B10-817E-5B3C0750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事件触发通信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446FB-5C9A-422B-B967-B4B8C51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05325"/>
            <a:ext cx="885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只在满足触发条件时同步 belief，而不是每一步广播全量信息。它贯穿观测更新链路，不是一个孤立的后处理模块。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55A040-C296-49A5-A724-D30D42F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8C0CF6-9302-4BFD-B27F-987A4B6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局部状态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9C70B3-AE83-46FB-9336-C11DB138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48250"/>
            <a:ext cx="952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537AA1-2EF6-4A46-91BB-7B9B1DAD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0958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belief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0AB153-D698-4670-9640-42346B36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BD8685-2D26-4197-94B8-C86B0D07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AB135D-6C29-4779-A35F-A2BDA3F5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30E79-0C84-4A26-925D-49D81FDB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通信统计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7D3CB7-E86F-47E3-93A5-EC944A5A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864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rPr>
              <a:t>需要掌握的“全流程”就是：从环境入口沿这条链路解释到测试指标输出。</a:t>
            </a:r>
          </a:p>
        </p:txBody>
      </p:sp>
    </p:spTree>
    <p:extLst>
      <p:ext uri="{BB962C8B-B14F-4D97-AF65-F5344CB8AC3E}">
        <p14:creationId xmlns:p14="http://schemas.microsoft.com/office/powerpoint/2010/main" val="13235312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D906F9-3D4E-4F02-856B-3C492FE3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16583-D7DC-4DF4-98DD-AD5E8D0C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629EB-F2ED-410B-8CF6-EE0C71E0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异构图负责表达关系，动作掩码负责保证可执行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58795-EE33-4292-9D94-A8195939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26C34-27A3-4749-BAB8-80C0CD1E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FCF7E-5F1E-48F0-970F-2F011A65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8033F-E37A-4AEB-BC88-94C89E87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5715000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33C7B-D862-4009-AB7C-5F6B0273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异构图状态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8CE9B1-8CD5-4334-96CE-EB4D487F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428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5BD30-BDBB-44E6-9E36-1AADF2B3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UAV 节点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B71D4-1273-4D09-8BB4-04CEDBC8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1428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16231-2140-4454-AC0E-AB38A206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146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Task 节点</a:t>
            </a:r>
          </a:p>
        </p:txBody>
      </p:sp>
      <p:cxnSp>
        <p:nvCxnSpPr>
          <p:cNvPr id="50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24100" y="30480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74A91"/>
            </a:solidFill>
            <a:prstDash val="solid"/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1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H="1">
            <a:off x="895350" y="3048000"/>
            <a:ext cx="4724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856D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55E27-662D-4EF4-848D-9B1DDA08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9624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41C43-C4B2-4977-B699-681559BA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0100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能力匹配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AD0B8-25C0-4E10-9452-1204E17A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62400"/>
            <a:ext cx="1333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BFD293-24B0-4502-9FCA-A05053B4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100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距离 / 时间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1418FD-07E8-41CB-8237-8C779766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9624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77F00-28E4-4B5A-9A2F-9FCC7F28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100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任务状态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E4C0BC-816D-4ECF-8D40-D3A3841D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图会随任务到达、完成和通信更新而变化。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83EF6A-22A2-4D4C-96A8-96EEDFEC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81150"/>
            <a:ext cx="5314950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EF4A41-D4C2-4CAF-AE4C-8B91B2F3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动作掩码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C8D44E-B2DF-4717-B524-D96C7D1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193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C69E50-8884-41B4-9F40-08481006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527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UAV1 → Task1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A2E334-1819-4B2F-BEC9-70E29959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可行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E312AD-18B1-43A2-906B-D68340EA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8610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FCEC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909DBC-21C3-46EE-B887-9679D739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UAV1 → Task2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08BA76-5E71-40F9-B82D-52FCCB29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194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能力不匹配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883EF-B447-47A7-BCD2-87552A0E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FCEC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DFB1C5-8B77-4C58-94C5-1D3B872C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862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UAV2 → Task1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2E4F65-26DC-4634-B1E5-4739E8AD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862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任务已分配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EA67FE-F9CA-44EB-B319-C128DA80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1960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D32379-D476-482A-9B38-46F51F8F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529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UAV2 → Task3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3CBA58-FA05-4249-B2D5-5DE5253C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5529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可行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F45E3E-D4CB-4068-99B2-487C1CB0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1391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EE4BC7-4CBC-4B7D-BF9E-FC17CC96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分工：AHGNN 学“哪个配对更合适”，mask 保证“只在合法配对里选”。</a:t>
            </a:r>
          </a:p>
        </p:txBody>
      </p:sp>
    </p:spTree>
    <p:extLst>
      <p:ext uri="{BB962C8B-B14F-4D97-AF65-F5344CB8AC3E}">
        <p14:creationId xmlns:p14="http://schemas.microsoft.com/office/powerpoint/2010/main" val="20779005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33590C-1F40-4D3A-B4DF-495499E8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AA0C6-9D5C-4616-AAB9-3FB18B94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1AD9DF-35A8-4DB9-A3B5-13361554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AHGNN：关系注意力、节点更新与自适应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F99DA-68D8-4C38-85D7-A15E4989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12FE4-06EA-4901-A3B9-9E8A1EE5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783D3-8A32-43F4-BD5D-A9C0CDB2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AE549-6A4B-4E38-82AD-C6B915C6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A9C45-43FB-4175-BDE9-5724FC77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4A3"/>
          </a:solidFill>
          <a:ln xmlns:a="http://schemas.openxmlformats.org/drawingml/2006/main" w="9525">
            <a:solidFill>
              <a:srgbClr val="6E54A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1EBE3-0E11-450D-BAFC-F0DDA1F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关系注意力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E9BEC-51BB-4D6C-933C-3E41BDB6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不同关系分别计算权重，让消息聚合体现任务相关性。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A989F-FB0E-4AFA-A062-8EFD962E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C27D6-8465-49D6-BAF2-E5216D60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D278F1-543A-45CC-B90B-BB80C608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节点更新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0526D-20B9-4806-90A5-628BA508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聚合邻居信息，得到 UAV 与 task 的新 embedding。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57051-5AA4-4981-B28A-276AC7C0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692A9-49AE-430E-9A82-F4394D41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56D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E8A23-E204-4730-992C-178D1B64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自适应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B0CAE3-BEB7-41E3-9CAC-591C4DC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融合旧状态与新消息；有梯度不等于一定带来收益。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B45F3-3EC6-4E26-B18D-E0BF0A5D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18913E-404F-46F9-9763-8CB4B8B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818"/>
          </a:solidFill>
          <a:ln xmlns:a="http://schemas.openxmlformats.org/drawingml/2006/main" w="9525">
            <a:solidFill>
              <a:srgbClr val="D978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213A04-C53C-4ADA-83A2-8695376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④ Pair logits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CA2E3-657D-4B81-A0DE-D9A33E80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拼接 UAV–task 表征，输出合法动作的分数。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7500CB-028F-4F96-90D7-E5811D1A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99A6F1-4B31-40B9-BB2F-0A3C90ED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关系消息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6E7A6E-AFD0-4A9A-9B86-135069D2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mᵢ = Σⱼ αᵢⱼ W hⱼ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DD381E-197A-44F6-BBF8-2050E7E1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Gate 融合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E8341-B72F-48AF-9200-0D229558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2291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hᵢ′ = gᵢ ⊙ mᵢ + (1−gᵢ) ⊙ hᵢ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11E001-9532-4CCB-B167-7FD824B9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动作分数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9B1535-9A2D-4F38-9535-07E6E0AC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291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logit(i,j) = f([hᵢ, hⱼ])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D149CE-170D-4E08-8A76-4253DD69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1391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rPr>
              <a:t>GPPO = Graph encoder + PPO；这里的 G 是 Graph，不是 GRPO 的 Group Relative。</a:t>
            </a:r>
          </a:p>
        </p:txBody>
      </p:sp>
    </p:spTree>
    <p:extLst>
      <p:ext uri="{BB962C8B-B14F-4D97-AF65-F5344CB8AC3E}">
        <p14:creationId xmlns:p14="http://schemas.microsoft.com/office/powerpoint/2010/main" val="1381288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588C7B5-8971-4532-9216-4C8C0B30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8B33F-AE9C-448B-9757-FCBD032D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02 代码与实验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0299F-FE12-45B6-97D9-0B3FB464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训练闭环：环境交互、轨迹缓存、GAE 与 PPO 更新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F2520-EDE3-46A5-B984-029B4006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686D5E-50B1-49C1-A68E-55604627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5FAC4-62C1-4884-A50F-5551B9D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1CFBA-D9DE-4A0C-83AD-F0D16AE8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6F267-868C-409D-8226-1FB0B404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B00D5-FF4C-4B7F-8081-D2A7D51A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reset / step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7187A-5CC4-4488-A5F5-74097B84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37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环境生成任务并推进状态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3641C-F623-4C49-B32C-157EC618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F1EC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8E9C3-EB6C-4504-9D6D-19CA7E7C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082ABE-FDE1-4E46-91E3-1D39098D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graph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82434B-AB2A-4A87-9736-1BA2C40A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AHGNN 生成 pair logits 与 value</a:t>
            </a:r>
          </a:p>
        </p:txBody>
      </p:sp>
      <p:cxnSp>
        <p:nvCxnSpPr>
          <p:cNvPr id="6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52675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E3EA9-8CC6-4C28-AF97-297BDBE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A1335-7F4D-4016-9F87-9620359B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BC28D7-0531-4152-8BA0-5DB0D65F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masked sample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42F93-663F-4041-882F-3879AA81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只从合法动作中采样</a:t>
            </a:r>
          </a:p>
        </p:txBody>
      </p:sp>
      <p:cxnSp>
        <p:nvCxnSpPr>
          <p:cNvPr id="73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629150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F91D1-C030-4568-8776-AC61C43C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8F7F9"/>
          </a:solidFill>
          <a:ln xmlns:a="http://schemas.openxmlformats.org/drawingml/2006/main" w="9525">
            <a:solidFill>
              <a:srgbClr val="E8F7F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EF383C-6290-487C-8A37-569ABF6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498D13-157C-4189-A81D-873B80B2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rollout buffer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94675-86AB-4C48-85FE-06345DC5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10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保存 reward、logprob、value</a:t>
            </a:r>
          </a:p>
        </p:txBody>
      </p:sp>
      <p:cxnSp>
        <p:nvCxnSpPr>
          <p:cNvPr id="78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905625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C248FF-4749-43DC-A74E-A8AA542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D74D6B-02DB-498C-8085-C555B43A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00B177-570B-4B9C-9A39-B67CECB1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GAE + update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6F7203-48D6-45F8-B162-83C83D46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911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计算优势并更新 actor / critic</a:t>
            </a:r>
          </a:p>
        </p:txBody>
      </p:sp>
      <p:cxnSp>
        <p:nvCxnSpPr>
          <p:cNvPr id="83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182100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27800E-2287-49DA-8166-1D16D223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7239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AB91C-7475-4243-8E75-54587A34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训练中应该会读的信号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CDF6A3-853B-4390-B230-577894C2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1466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124836-83A8-4B4E-B3C7-2C217B8D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episode reward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12C575-A4F4-4167-85AB-299AD73F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6482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1D62CB-EB02-4A22-B9B2-5E82FFC7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makespan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EA57DD-B4BA-4DBD-80EA-667397B3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48200"/>
            <a:ext cx="1676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6C9449-9EF8-4D04-8120-DB48A86B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695825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actor / value loss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C0F1B2-6036-4CED-9F7E-F93A33EB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48200"/>
            <a:ext cx="1371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276AC5-7B2E-4160-936C-BD4C8B51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95825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entropy / 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19FBAA-543D-41F5-B536-160DE5FD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46A6A9-45D2-4373-8206-830D0AC8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1492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clip fraction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3B7E47-E74B-4859-9EF8-B709CA51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6730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DC0DC7-5486-4894-AB58-E162F671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11492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Gate gradient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86860E-036F-4094-86FE-1F2438AE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67300"/>
            <a:ext cx="1409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660FF6-C2DF-4EF1-8537-D24850E7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1492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illegal action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1974E0-5180-4D1C-A71B-99D3F082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4335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7813FA-5B4B-4373-A235-C0EE9F26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767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300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F59D8F-A6B7-4F5A-B540-E79CC4FB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已有训练 iterations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C1D8F5-A9DE-4EC3-B888-10ACBF87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94335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115217-5FCA-455E-954A-F94AC57B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767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EEC9E2-9271-4ED7-BD88-D903AD99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59105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固定测试实例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EA53C8-DD39-4388-8B43-50AD6B90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rPr>
              <a:t>checkpoint、训练曲线和 test100 是三类不同证据，需要对应起来解释。</a:t>
            </a:r>
          </a:p>
        </p:txBody>
      </p:sp>
    </p:spTree>
    <p:extLst>
      <p:ext uri="{BB962C8B-B14F-4D97-AF65-F5344CB8AC3E}">
        <p14:creationId xmlns:p14="http://schemas.microsoft.com/office/powerpoint/2010/main" val="7667440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D3BC1D-E26D-4F81-9628-776C4C38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AFBD3-8428-4C50-8903-8A761BB8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02 代码与实验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D40CC-E9E0-4BA2-A08B-B0884C10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证据地图：一份主训练，四类验证，不再重复跑同类实验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61F79-5AFC-4C32-8771-781DB5AA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956C46-1026-4655-8008-9FF356CD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50D00-48E4-4CB1-A0EF-58192073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F3A65-533F-4565-ADDD-3C755048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2476500" cy="31813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A0DCBA-A65A-446B-8CB2-64EB25BC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rPr>
              <a:t>主训练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53D7E-EDB4-4ED3-8EC4-55882FBC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2000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42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GPPO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1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300 iterations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29177-EEDC-487E-828F-C5C8C77C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43B6B"/>
          </a:solidFill>
          <a:ln xmlns:a="http://schemas.openxmlformats.org/drawingml/2006/main" w="9525">
            <a:solidFill>
              <a:srgbClr val="143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D63D4-A6CA-46D4-9D84-7DBE7D14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 checkpoint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1AEFE-CEC9-47DD-81CC-E1F45C4C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A33BD-9537-498F-B166-08F8BC10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441C29-7CF4-4771-BAF5-576FD020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907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固定 test100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11680-7E1C-4F15-A685-95FDD1D2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六种机制的 makespan 与完成率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3F20E-8579-4E58-A504-76BE6C76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7F9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5AE345-964B-49E5-B0EE-CBAB1A8A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DC3B6-D98F-477A-81ED-31EB6293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907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Event / Full replay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D77D7B-61C0-4E8B-AA6A-F222CB3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0980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相同 checkpoint 下的通信代价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B53EA2-3F92-4662-A287-9880CCE2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2900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400EF7-3A9D-4D82-8638-A9A0B0A3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2900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56D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47FDC4-BD23-433C-9420-A0699E33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004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Gate 审计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3DF63E-E51E-4A72-A203-CB97802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1955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梯度、均值、消融与三种子筛选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9E18F-311B-48BB-9FEC-563E76BA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2900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3FB37-2627-49F8-A9DB-B8AA8FD2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2900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818"/>
          </a:solidFill>
          <a:ln xmlns:a="http://schemas.openxmlformats.org/drawingml/2006/main" w="9525">
            <a:solidFill>
              <a:srgbClr val="D978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CD8564-982C-4764-AE43-3A09054B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004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Phase 1B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32A64D-D69C-4DB1-A8A7-10AC2921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955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丢包 / 时延 / 能量 / makespan 扰动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D59CE4-76CB-42BA-9FBA-D3E73163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训练证据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2F852B-81B6-4B0E-ABED-3DC7A2F3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CC369E-D81F-4D5A-A0C4-ED66A48E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loss / reward / entropy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B26FEC-DCD2-4937-B3D7-84488FB2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性能证据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BC02AD-2040-4DCF-94E4-7779D16A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test100 / makespan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51B208-675B-4B3D-B9F2-DCC8FFA1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机制证据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DEA484-BB21-4DEB-87E4-B2EE06CA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34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mask / Gate / communication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564788-E1FE-422A-8270-B35D2CE5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稳健性证据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8426FE-B81B-4557-AA91-7792A8FB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734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disturbance</a:t>
            </a:r>
          </a:p>
        </p:txBody>
      </p:sp>
    </p:spTree>
    <p:extLst>
      <p:ext uri="{BB962C8B-B14F-4D97-AF65-F5344CB8AC3E}">
        <p14:creationId xmlns:p14="http://schemas.microsoft.com/office/powerpoint/2010/main" val="297401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A13F71-1781-47FC-BDBC-CDB9925D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52D3E-A872-48CC-BE16-CA389E5B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88917-813D-4FCF-A5B7-5502E134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固定 test100：GPPO 优于 PPO，但简单 Gate 变体更好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FF871-8DAB-4325-843C-ED3F0F71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EE85A-7319-4556-B1F1-DB0A3865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288E42-AAF9-4DDD-A0D1-AF14C702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0B9A8-CC86-43D5-B244-BFCD4B6D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810500" cy="4648200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b13495a03437a"/>
          <a:stretch xmlns:a="http://schemas.openxmlformats.org/drawingml/2006/main"/>
        </p:blipFill>
        <p:spPr>
          <a:xfrm xmlns:a="http://schemas.openxmlformats.org/drawingml/2006/main">
            <a:off x="552450" y="1928922"/>
            <a:ext cx="7505700" cy="370500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2EBFC-0AA8-40D3-9168-66BB4E1D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ECD1A-F1C3-4A51-98F8-06BE5BD0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−4.0046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C541C-2DC5-4039-A3A6-A7109397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288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GPPO-event vs PPO-none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755FB1-E7F4-4421-8EA2-F0B39FCC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1940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CB0D12-77B9-43D7-B189-BA65C4E9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5275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−3.8617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A6812-714A-437C-8898-B7C8D1CA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671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GPPO-event vs PPO-event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249F4-33C1-4FD1-9F45-5352A1DD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F1ECF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0FA76-976C-45F5-A686-4668F752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19100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3EC162-89ED-42F7-AC8F-D787B7DF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7053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六组完成率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B27F3-67C6-49F5-A89A-618903C1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95900"/>
            <a:ext cx="32194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0D73AE-73E0-4466-92C2-DAA93E42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448300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读法：makespan 越低越好</a:t>
            </a:r>
          </a:p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误差条为 instance-level std</a:t>
            </a:r>
          </a:p>
        </p:txBody>
      </p:sp>
    </p:spTree>
    <p:extLst>
      <p:ext uri="{BB962C8B-B14F-4D97-AF65-F5344CB8AC3E}">
        <p14:creationId xmlns:p14="http://schemas.microsoft.com/office/powerpoint/2010/main" val="9121769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ED42F6-D99E-41D0-A46D-161467D1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966DC-4E5C-472F-BE50-AA624FA8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43A87-C1C9-4691-B13E-CF6A86E2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事件通信：几乎不损失任务质量，大幅降低通信量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4A046-3B76-482B-B5E8-602A4669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F1F67-1211-48F2-94D8-6DEAE849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181D6-7063-4F06-B8B4-4CD87286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D2E4C-4348-4470-A690-E8369A34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105650" cy="4648200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d1a043479478f"/>
          <a:stretch xmlns:a="http://schemas.openxmlformats.org/drawingml/2006/main"/>
        </p:blipFill>
        <p:spPr>
          <a:xfrm xmlns:a="http://schemas.openxmlformats.org/drawingml/2006/main">
            <a:off x="761758" y="1657350"/>
            <a:ext cx="6382235" cy="42481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BA766D-8D0E-48C8-AE08-2B098D7F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828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EDF4F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992B3-6C97-4243-955E-83CCE4F3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1485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16.1673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6BB292-7CCD-4AA9-AEF3-B55F77EF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288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Event makespan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D7B6B-5227-40CF-AEBB-C75D2BC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58115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F1EC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EB56F-EF12-44AD-992A-BD3C031D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714500"/>
            <a:ext cx="1581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16.1673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7DD6-CF4F-404D-825E-C6A826BA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2288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Full replay makespan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E0647-753B-4214-AC59-CD5F94CB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76550"/>
            <a:ext cx="1828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695B0-4571-49B3-A056-CB96B679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09900"/>
            <a:ext cx="1485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2,790.9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257EEF-C051-4CC3-8851-F1B20651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242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Event bytes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A63E1-5F38-40A9-B80F-CCA6D76D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7655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32373D-D1B3-4B89-AD69-C461B4D8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009900"/>
            <a:ext cx="1581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4,266,481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D86F6C-1024-4259-A09D-63426111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5242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Full replay bytes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62616-700C-4DD3-A11C-D5198F12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39433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E733B0-68F7-4C44-BE8A-FD2E6547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624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99.93%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B126D3-1DD2-48AB-96B8-2E96E740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672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通信量下降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9A13AC-B58B-4518-8F5B-0ED2607D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91100"/>
            <a:ext cx="3486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rPr>
              <a:t>同一 checkpoint 回放中 makespan 相同。</a:t>
            </a:r>
          </a:p>
          <a:p xmlns:a="http://schemas.openxmlformats.org/drawingml/2006/main">
            <a:pPr algn="l">
              <a:def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rPr>
              <a:t>证明的是通信机制收益，不是两套独立训练。</a:t>
            </a:r>
          </a:p>
        </p:txBody>
      </p:sp>
    </p:spTree>
    <p:extLst>
      <p:ext uri="{BB962C8B-B14F-4D97-AF65-F5344CB8AC3E}">
        <p14:creationId xmlns:p14="http://schemas.microsoft.com/office/powerpoint/2010/main" val="4313903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872E5-118A-45FE-960D-7BA4FAB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F658A-8078-4483-9B45-A34DC298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9A11F-E2C9-4368-A739-111BE23D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负面结果与扩展结果：Gate 未稳定增益，扰动链路可审计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8B463-7547-4BDD-8693-EFC0ABD0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7BA13-B43C-4D46-A067-24FB3345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47851-103D-4C47-8C94-80E7F041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58ACF-B1D8-46C4-AF08-49F678AE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550545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ed5356104431d"/>
          <a:stretch xmlns:a="http://schemas.openxmlformats.org/drawingml/2006/main"/>
        </p:blipFill>
        <p:spPr>
          <a:xfrm xmlns:a="http://schemas.openxmlformats.org/drawingml/2006/main">
            <a:off x="552450" y="1816701"/>
            <a:ext cx="5200650" cy="257689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5FD56-B17E-4C57-900D-34AB33E7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Gate 筛选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98177-5B87-4987-8C3B-80C4171C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Adaptive-score 15.9025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NoGate 15.9805｜SingleHead 15.9613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BD0EB-2F98-484D-9367-7B2CD40C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04950"/>
            <a:ext cx="550545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452362421415b"/>
          <a:stretch xmlns:a="http://schemas.openxmlformats.org/drawingml/2006/main"/>
        </p:blipFill>
        <p:spPr>
          <a:xfrm xmlns:a="http://schemas.openxmlformats.org/drawingml/2006/main">
            <a:off x="6890562" y="1676400"/>
            <a:ext cx="4297326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72556-EE3E-49C4-87FA-568B778B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Phase 1B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AC6547-41D5-46F7-B8E2-44741559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114 项自动化测试通过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丢包率 0 → 18.84%，完成率四档均为 1.0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2A540-1E94-4D57-B317-10C6F5A1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113919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F6F9F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54C4EF-2B79-419E-90E9-A1CBADD3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rPr>
              <a:t>解释边界：Gate 有梯度、实现有效，但现有证据不能证明它稳定带来收益；扰动环境是后续研究的实验地基。</a:t>
            </a:r>
          </a:p>
        </p:txBody>
      </p:sp>
    </p:spTree>
    <p:extLst>
      <p:ext uri="{BB962C8B-B14F-4D97-AF65-F5344CB8AC3E}">
        <p14:creationId xmlns:p14="http://schemas.microsoft.com/office/powerpoint/2010/main" val="31380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B3E0E-E449-467F-8B80-54E209EE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F6C56-9857-45D3-A12A-2EF18DE6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33A82-5326-42D5-B19E-B1668F4D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我们已经证明什么，以及不能声称什么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078CD0-2903-4BA9-A713-37067A6C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914BC-68E2-48D3-8655-7B05E705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46FE1-91AC-4298-ABB6-5B36DF1C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D8FC1-3E53-4B8F-BF97-9C529EA1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5D9D2-ADBD-4942-BC56-7FB6162E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56D"/>
          </a:solidFill>
          <a:ln xmlns:a="http://schemas.openxmlformats.org/drawingml/2006/main" w="9525">
            <a:solidFill>
              <a:srgbClr val="1285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86923-F60A-429C-9574-FDF9BD34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91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可以明确说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07B99-CC41-4E4A-A413-A65F7570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49149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✓ 机制链路可运行，mask 与事件同步生效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✓ 固定 test100 中 GPPO 优于 PPO baselines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✓ Event 大幅降低通信量并保持回放 makespan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✓ Gate 与扰动结果可审计、可追溯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B75C1-8C31-498D-8BB6-55EBB7C2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57150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7F9A4-DFBE-4905-B2B0-6AB107C2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66675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A4A"/>
          </a:solidFill>
          <a:ln xmlns:a="http://schemas.openxmlformats.org/drawingml/2006/main" w="9525">
            <a:solidFill>
              <a:srgbClr val="C84A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25F27-CD7B-4E6F-B34A-84CB72D3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529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不能过度声称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F013E-2FB1-4C50-99E6-84E5AD64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9800"/>
            <a:ext cx="52959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× 不是原论文数值级完整复现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× 不能凭 seed1 判断 Gate 必然有效或无效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× 不能把工程 Best 当成论文 Literal</a:t>
            </a:r>
          </a:p>
          <a:p xmlns:a="http://schemas.openxmlformats.org/drawingml/2006/main">
            <a:pPr algn="l">
              <a:def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× 不能据此断定 GRPO / RLHF 一定改善任务分配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A2A3B-09D0-469F-8305-E42B26B5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A274E"/>
          </a:solidFill>
          <a:ln xmlns:a="http://schemas.openxmlformats.org/drawingml/2006/main" w="9525">
            <a:solidFill>
              <a:srgbClr val="0A27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5DC0F-B3A8-4F78-8B39-B58BF123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定位：mechanism / structural reproduction（机制与结构复现），不是数值级复刻。</a:t>
            </a:r>
          </a:p>
        </p:txBody>
      </p:sp>
    </p:spTree>
    <p:extLst>
      <p:ext uri="{BB962C8B-B14F-4D97-AF65-F5344CB8AC3E}">
        <p14:creationId xmlns:p14="http://schemas.microsoft.com/office/powerpoint/2010/main" val="18216276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20FD29-F279-4BCE-8AAA-2B9E7428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ED1E6-F256-492B-BC4C-462188C1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04 后续计划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CD9E6-7E13-4689-AC5D-DAF9117F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第二篇论文现在只做概念定位：偏好学习不是当前复现任务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7D3CA-37F2-4B86-9AC4-500F3C25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A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603FA-F073-4B73-8A03-B08C1A25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1DC64-8C68-4981-9913-538942DA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F6C7B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CFBDF-8565-439B-BDF0-1C613C9C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47625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EBC46-5710-4F68-896E-17E3860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4A91"/>
                </a:solidFill>
                <a:latin typeface="Microsoft YaHei"/>
                <a:ea typeface="Microsoft YaHei"/>
                <a:cs typeface="Microsoft YaHei"/>
              </a:rPr>
              <a:t>第一篇：任务分配策略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C1D43-AEAF-48BE-871D-6604E87C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4095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图状态 → Actor → UAV–task 动作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目标：弱通信下提高分配效率</a:t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更新：PPO + 图网络</a:t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监督信号：环境 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D3665-880C-4BAA-94FE-BCEFF5AD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19250"/>
            <a:ext cx="47625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F1ECF8"/>
          </a:solidFill>
          <a:ln xmlns:a="http://schemas.openxmlformats.org/drawingml/2006/main" w="9525">
            <a:solidFill>
              <a:srgbClr val="6E54A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243AF-B348-4677-8013-458F401B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478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E54A3"/>
                </a:solidFill>
                <a:latin typeface="Microsoft YaHei"/>
                <a:ea typeface="Microsoft YaHei"/>
                <a:cs typeface="Microsoft YaHei"/>
              </a:rPr>
              <a:t>第二篇：偏好可控优化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5588EB-0AC7-441B-A206-FF012635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4095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偏好 / 多目标 → 条件策略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目标：在多个目标间可控权衡</a:t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重点：奖励建模、Pareto 权衡</a:t>
            </a:r>
          </a:p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现阶段：理解接口与评价方式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B20A4F-899E-4E2F-8837-8B0EF00E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57500"/>
            <a:ext cx="1257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2E73BC-9A29-439B-9695-8A632AAF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908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候选研究</a:t>
            </a:r>
          </a:p>
          <a:p xmlns:a="http://schemas.openxmlformats.org/drawingml/2006/main">
            <a:pPr algn="ctr">
              <a:defRPr sz="12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EE4AD4-D7FF-45A5-B33F-03D5111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43250"/>
            <a:ext cx="190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4A91"/>
          </a:solidFill>
          <a:ln xmlns:a="http://schemas.openxmlformats.org/drawingml/2006/main" w="9525">
            <a:solidFill>
              <a:srgbClr val="174A91"/>
            </a:solidFill>
            <a:prstDash val="solid"/>
          </a:ln>
        </p:spPr>
      </p:sp>
      <p:cxnSp>
        <p:nvCxnSpPr>
          <p:cNvPr id="41" name=""/>
          <p:cNvCxnSpPr>
            <a:stCxn xmlns:a="http://schemas.openxmlformats.org/drawingml/2006/main" id="15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953000" y="3152775"/>
            <a:ext cx="514350" cy="66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91"/>
            </a:solidFill>
            <a:prstDash val="solid"/>
            <a:tailEnd type="arrow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60F2A-4999-4EC3-90F1-1FDA787D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90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54A3"/>
          </a:solidFill>
          <a:ln xmlns:a="http://schemas.openxmlformats.org/drawingml/2006/main" w="9525">
            <a:solidFill>
              <a:srgbClr val="6E54A3"/>
            </a:solidFill>
            <a:prstDash val="solid"/>
          </a:ln>
        </p:spPr>
      </p:sp>
      <p:cxnSp>
        <p:nvCxnSpPr>
          <p:cNvPr id="43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6724650" y="3152775"/>
            <a:ext cx="514350" cy="66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E54A3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DF4E0D-160A-4ADD-8908-6875A669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FCEC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D51095-BB14-4784-8DDD-5E57C6F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A4A"/>
                </a:solidFill>
                <a:latin typeface="Microsoft YaHei"/>
                <a:ea typeface="Microsoft YaHei"/>
                <a:cs typeface="Microsoft YaHei"/>
              </a:rPr>
              <a:t>不复现第二篇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1DF16-9BB7-4C1F-AF0E-D1C8AD98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467350"/>
            <a:ext cx="1847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9525">
            <a:solidFill>
              <a:srgbClr val="FFF2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5E7583-9F95-475E-8B77-9280D7AD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5149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7818"/>
                </a:solidFill>
                <a:latin typeface="Microsoft YaHei"/>
                <a:ea typeface="Microsoft YaHei"/>
                <a:cs typeface="Microsoft YaHei"/>
              </a:rPr>
              <a:t>不提前迁移 GRPO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79FA57-F06D-4012-8D5E-B3C347E6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673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6F73C5-CCEF-4AAA-AAF2-1872125E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856D"/>
                </a:solidFill>
                <a:latin typeface="Microsoft YaHei"/>
                <a:ea typeface="Microsoft YaHei"/>
                <a:cs typeface="Microsoft YaHei"/>
              </a:rPr>
              <a:t>只形成问题清单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C3529E-8B04-43ED-AAAF-DC37A287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11391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A274E"/>
                </a:solidFill>
                <a:latin typeface="Microsoft YaHei"/>
                <a:ea typeface="Microsoft YaHei"/>
                <a:cs typeface="Microsoft YaHei"/>
              </a:rPr>
              <a:t>注意：GPPO 的 G = Graph；GRPO 的 G = Group Relative。两者不是同一种算法。</a:t>
            </a:r>
          </a:p>
        </p:txBody>
      </p:sp>
    </p:spTree>
    <p:extLst>
      <p:ext uri="{BB962C8B-B14F-4D97-AF65-F5344CB8AC3E}">
        <p14:creationId xmlns:p14="http://schemas.microsoft.com/office/powerpoint/2010/main" val="10525369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27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74C59D-E00D-4FF9-96BC-07FA3F4F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9C3"/>
          </a:solidFill>
          <a:ln xmlns:a="http://schemas.openxmlformats.org/drawingml/2006/main" w="9525">
            <a:solidFill>
              <a:srgbClr val="17A9C3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f9f68aadd47ee"/>
          <a:stretch xmlns:a="http://schemas.openxmlformats.org/drawingml/2006/main"/>
        </p:blipFill>
        <p:spPr>
          <a:xfrm xmlns:a="http://schemas.openxmlformats.org/drawingml/2006/main">
            <a:off x="11049000" y="310229"/>
            <a:ext cx="666750" cy="61779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6B10D-F0AF-4E1E-88C5-AD4997A2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900A8-C816-4796-9411-E5D302FC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34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带着四个问题去开会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7DCC8-3C1E-434F-8083-7F553BE9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23762"/>
          </a:solidFill>
          <a:ln xmlns:a="http://schemas.openxmlformats.org/drawingml/2006/main" w="9525">
            <a:solidFill>
              <a:srgbClr val="2B52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31B1F-E73A-478D-B91B-2E501F82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4F5A7-3E5F-494A-8626-5E0D224C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90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669C0-B762-4A0E-BB88-FFB77BFB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908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rPr>
              <a:t>继续改任务分配策略，还是转向语言模型式 RLHF？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F8D67-830B-438C-87B0-E8B9886D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23762"/>
          </a:solidFill>
          <a:ln xmlns:a="http://schemas.openxmlformats.org/drawingml/2006/main" w="9525">
            <a:solidFill>
              <a:srgbClr val="2B52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DE823-8F81-4787-8598-A90B01D5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83E03-2F61-4162-8D38-F275DDC3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算法接口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C5A4F-28BB-4221-BFBB-40DC15F5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rPr>
              <a:t>GRPO 要替换 PPO 的优势估计、分组采样还是更新目标？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76C54-850F-44AF-9FE8-31006F33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23762"/>
          </a:solidFill>
          <a:ln xmlns:a="http://schemas.openxmlformats.org/drawingml/2006/main" w="9525">
            <a:solidFill>
              <a:srgbClr val="2B527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A77AF-A212-43F7-9B6E-964FEF0C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5761D-5413-43D0-A36F-0A1AEA3C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偏好来源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9B451-ADDB-471C-99D6-9BC8C624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rPr>
              <a:t>人工标注、规则构造，还是由多目标指标自动生成？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B10A4-503B-43AC-8EC5-09B2DD26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23762"/>
          </a:solidFill>
          <a:ln xmlns:a="http://schemas.openxmlformats.org/drawingml/2006/main" w="9525">
            <a:solidFill>
              <a:srgbClr val="2B527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81A68-AAD2-4887-AAC6-E17419C7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86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5B4657-06FF-47E3-AE1E-8AC63291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67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评价标准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0695D-258B-4F0D-B6A3-2168189A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8E6F3"/>
                </a:solidFill>
                <a:latin typeface="Microsoft YaHei"/>
                <a:ea typeface="Microsoft YaHei"/>
                <a:cs typeface="Microsoft YaHei"/>
              </a:rPr>
              <a:t>makespan、通信、鲁棒性，还是 Pareto / 可控性？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4A3300-203C-414B-ACF7-6E64D989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57D"/>
          </a:solidFill>
          <a:ln xmlns:a="http://schemas.openxmlformats.org/drawingml/2006/main" w="9525">
            <a:solidFill>
              <a:srgbClr val="31557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EB9EEF-41BD-45C1-B1ED-82FAC14B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会前：复盘 300 轮 → 逐模块讲清代码 → 轻读 PCRL → 整理候选方向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781FD0-B64E-4138-A4C5-D9994F7B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29350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A9C3"/>
                </a:solidFill>
                <a:latin typeface="Microsoft YaHei"/>
                <a:ea typeface="Microsoft YaHei"/>
                <a:cs typeface="Microsoft YaHei"/>
              </a:rPr>
              <a:t>会后：确认研究对象和评价口径，再设计新的训练与对照实验</a:t>
            </a:r>
          </a:p>
        </p:txBody>
      </p:sp>
    </p:spTree>
    <p:extLst>
      <p:ext uri="{BB962C8B-B14F-4D97-AF65-F5344CB8AC3E}">
        <p14:creationId xmlns:p14="http://schemas.microsoft.com/office/powerpoint/2010/main" val="3644709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2026-08-11T13:25:49.6900000Z</dcterms:created>
  <dcterms:modified xsi:type="dcterms:W3CDTF">2026-08-11T13:25:49.6900000Z</dcterms:modified>
</coreProperties>
</file>