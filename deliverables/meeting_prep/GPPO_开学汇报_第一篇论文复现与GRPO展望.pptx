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645faf318740bc" /><Relationship Type="http://schemas.openxmlformats.org/officeDocument/2006/relationships/extended-properties" Target="/docProps/app.xml" Id="R1848f21323224062" /><Relationship Type="http://schemas.openxmlformats.org/officeDocument/2006/relationships/officeDocument" Target="/ppt/presentation.xml" Id="R9479c5d622d2457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fb2e9de0354900"/>
  </p:sldMasterIdLst>
  <p:notesMasterIdLst>
    <p:notesMasterId xmlns:r="http://schemas.openxmlformats.org/officeDocument/2006/relationships" r:id="R78f284db80ad4f85"/>
  </p:notesMasterIdLst>
  <p:sldIdLst>
    <p:sldId xmlns:r="http://schemas.openxmlformats.org/officeDocument/2006/relationships" id="256" r:id="Rf83636dcec94424f"/>
    <p:sldId xmlns:r="http://schemas.openxmlformats.org/officeDocument/2006/relationships" id="257" r:id="R9dee0d74bf03440b"/>
    <p:sldId xmlns:r="http://schemas.openxmlformats.org/officeDocument/2006/relationships" id="258" r:id="R8be378b951744090"/>
    <p:sldId xmlns:r="http://schemas.openxmlformats.org/officeDocument/2006/relationships" id="259" r:id="Ref7e96d6c8a14584"/>
    <p:sldId xmlns:r="http://schemas.openxmlformats.org/officeDocument/2006/relationships" id="260" r:id="Rf1ba3c1b7c68450e"/>
    <p:sldId xmlns:r="http://schemas.openxmlformats.org/officeDocument/2006/relationships" id="261" r:id="Rf860563d7f604ee8"/>
    <p:sldId xmlns:r="http://schemas.openxmlformats.org/officeDocument/2006/relationships" id="262" r:id="R65f589ccadcd4def"/>
    <p:sldId xmlns:r="http://schemas.openxmlformats.org/officeDocument/2006/relationships" id="263" r:id="R1b4153e0c0934fcf"/>
    <p:sldId xmlns:r="http://schemas.openxmlformats.org/officeDocument/2006/relationships" id="264" r:id="Rf13119d2e96747f1"/>
    <p:sldId xmlns:r="http://schemas.openxmlformats.org/officeDocument/2006/relationships" id="265" r:id="R2e5775e063704828"/>
    <p:sldId xmlns:r="http://schemas.openxmlformats.org/officeDocument/2006/relationships" id="266" r:id="Rf8303abc08a94517"/>
    <p:sldId xmlns:r="http://schemas.openxmlformats.org/officeDocument/2006/relationships" id="267" r:id="R3f367b3855ab49a1"/>
    <p:sldId xmlns:r="http://schemas.openxmlformats.org/officeDocument/2006/relationships" id="268" r:id="R1d441277fc4c40dc"/>
    <p:sldId xmlns:r="http://schemas.openxmlformats.org/officeDocument/2006/relationships" id="269" r:id="R058e5e5131e649d0"/>
    <p:sldId xmlns:r="http://schemas.openxmlformats.org/officeDocument/2006/relationships" id="270" r:id="Ra7e85e3fff6a4a4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cf0489a9e44900" /><Relationship Type="http://schemas.openxmlformats.org/officeDocument/2006/relationships/slideMaster" Target="/ppt/slideMasters/slideMaster1.xml" Id="Rd4fb2e9de0354900" /><Relationship Type="http://schemas.openxmlformats.org/officeDocument/2006/relationships/notesMaster" Target="/ppt/notesMasters/notesMaster1.xml" Id="R78f284db80ad4f85" /><Relationship Type="http://schemas.openxmlformats.org/officeDocument/2006/relationships/presProps" Target="/ppt/presProps.xml" Id="R70936e0775524e81" /><Relationship Type="http://schemas.openxmlformats.org/officeDocument/2006/relationships/tableStyles" Target="/ppt/tableStyles.xml" Id="Rfbfee88b3e2f438c" /><Relationship Type="http://schemas.openxmlformats.org/officeDocument/2006/relationships/slide" Target="/ppt/slides/slide1.xml" Id="Rf83636dcec94424f" /><Relationship Type="http://schemas.openxmlformats.org/officeDocument/2006/relationships/slide" Target="/ppt/slides/slide2.xml" Id="R9dee0d74bf03440b" /><Relationship Type="http://schemas.openxmlformats.org/officeDocument/2006/relationships/slide" Target="/ppt/slides/slide3.xml" Id="R8be378b951744090" /><Relationship Type="http://schemas.openxmlformats.org/officeDocument/2006/relationships/slide" Target="/ppt/slides/slide4.xml" Id="Ref7e96d6c8a14584" /><Relationship Type="http://schemas.openxmlformats.org/officeDocument/2006/relationships/slide" Target="/ppt/slides/slide5.xml" Id="Rf1ba3c1b7c68450e" /><Relationship Type="http://schemas.openxmlformats.org/officeDocument/2006/relationships/slide" Target="/ppt/slides/slide6.xml" Id="Rf860563d7f604ee8" /><Relationship Type="http://schemas.openxmlformats.org/officeDocument/2006/relationships/slide" Target="/ppt/slides/slide7.xml" Id="R65f589ccadcd4def" /><Relationship Type="http://schemas.openxmlformats.org/officeDocument/2006/relationships/slide" Target="/ppt/slides/slide8.xml" Id="R1b4153e0c0934fcf" /><Relationship Type="http://schemas.openxmlformats.org/officeDocument/2006/relationships/slide" Target="/ppt/slides/slide9.xml" Id="Rf13119d2e96747f1" /><Relationship Type="http://schemas.openxmlformats.org/officeDocument/2006/relationships/slide" Target="/ppt/slides/slide10.xml" Id="R2e5775e063704828" /><Relationship Type="http://schemas.openxmlformats.org/officeDocument/2006/relationships/slide" Target="/ppt/slides/slide11.xml" Id="Rf8303abc08a94517" /><Relationship Type="http://schemas.openxmlformats.org/officeDocument/2006/relationships/slide" Target="/ppt/slides/slide12.xml" Id="R3f367b3855ab49a1" /><Relationship Type="http://schemas.openxmlformats.org/officeDocument/2006/relationships/slide" Target="/ppt/slides/slide13.xml" Id="R1d441277fc4c40dc" /><Relationship Type="http://schemas.openxmlformats.org/officeDocument/2006/relationships/slide" Target="/ppt/slides/slide14.xml" Id="R058e5e5131e649d0" /><Relationship Type="http://schemas.openxmlformats.org/officeDocument/2006/relationships/slide" Target="/ppt/slides/slide15.xml" Id="Ra7e85e3fff6a4a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a2f379f5f449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c108db6a904f74" /><Relationship Type="http://schemas.openxmlformats.org/officeDocument/2006/relationships/notesMaster" Target="/ppt/notesMasters/notesMaster1.xml" Id="Rbf65603def274f6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1e4d4dc00348b5" /><Relationship Type="http://schemas.openxmlformats.org/officeDocument/2006/relationships/notesMaster" Target="/ppt/notesMasters/notesMaster1.xml" Id="Rbfc1bf71c1d742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cc9aa3dae814a17" /><Relationship Type="http://schemas.openxmlformats.org/officeDocument/2006/relationships/notesMaster" Target="/ppt/notesMasters/notesMaster1.xml" Id="Rd32faf70572746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be98a70f8648b4" /><Relationship Type="http://schemas.openxmlformats.org/officeDocument/2006/relationships/notesMaster" Target="/ppt/notesMasters/notesMaster1.xml" Id="Rc2e2d12397a248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dae663e120488c" /><Relationship Type="http://schemas.openxmlformats.org/officeDocument/2006/relationships/notesMaster" Target="/ppt/notesMasters/notesMaster1.xml" Id="Rb82355bf2de741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a07a9c42de43fa" /><Relationship Type="http://schemas.openxmlformats.org/officeDocument/2006/relationships/notesMaster" Target="/ppt/notesMasters/notesMaster1.xml" Id="Ra8131a811bf549a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d0bac8595e047a8" /><Relationship Type="http://schemas.openxmlformats.org/officeDocument/2006/relationships/notesMaster" Target="/ppt/notesMasters/notesMaster1.xml" Id="Ra4ae7db159ca48a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67d89fbca948c6" /><Relationship Type="http://schemas.openxmlformats.org/officeDocument/2006/relationships/notesMaster" Target="/ppt/notesMasters/notesMaster1.xml" Id="R05f4262c065a41c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93beef670b34424" /><Relationship Type="http://schemas.openxmlformats.org/officeDocument/2006/relationships/notesMaster" Target="/ppt/notesMasters/notesMaster1.xml" Id="Rbe8c165b82034c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b2b4818bf74e6d" /><Relationship Type="http://schemas.openxmlformats.org/officeDocument/2006/relationships/notesMaster" Target="/ppt/notesMasters/notesMaster1.xml" Id="R5e256dc68f5d462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b7a9919112417d" /><Relationship Type="http://schemas.openxmlformats.org/officeDocument/2006/relationships/notesMaster" Target="/ppt/notesMasters/notesMaster1.xml" Id="Ra09c2777537e48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63f13371934570" /><Relationship Type="http://schemas.openxmlformats.org/officeDocument/2006/relationships/notesMaster" Target="/ppt/notesMasters/notesMaster1.xml" Id="Rd5ea9cb82abe472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a6c778b90041b1" /><Relationship Type="http://schemas.openxmlformats.org/officeDocument/2006/relationships/notesMaster" Target="/ppt/notesMasters/notesMaster1.xml" Id="Rde8f96ebfbb146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edcb1f078b44bdd" /><Relationship Type="http://schemas.openxmlformats.org/officeDocument/2006/relationships/notesMaster" Target="/ppt/notesMasters/notesMaster1.xml" Id="R57da9467fac3493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b0609224f334266" /><Relationship Type="http://schemas.openxmlformats.org/officeDocument/2006/relationships/notesMaster" Target="/ppt/notesMasters/notesMaster1.xml" Id="Rdb91595ecf8941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开场先明确定位：这是第一篇论文的阶段复现汇报，不是新算法答辩。重点是把问题、方法、代码链路、300轮证据和后续决策讲清楚。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https://www.neu.edu.cn/xygk/ddbs.htm</a:t>
            </a:r>
          </a:p>
          <a:p xmlns:a="http://schemas.openxmlformats.org/drawingml/2006/main">
            <a:r>
              <a:t>- https://sce.neu.edu.cn/2026/0506/c10628a453302/page.htm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目录控制在四部分。汇报逻辑先讲清楚第一篇论文，再展示证据，最后只把第二篇论文定位成会议后的研究候选。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E:/Z博士/github_submission/GPPO-paper-faithful-clean/docs/OPENING_MEETING_STUDY_WORKBOOK_ZH.md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这一页直接回应当前计划：已有300轮已经满足“亲自跑完全流程”的训练实践目标。现在的学习产出应该是能解释链路和结果，而不是重复消耗算力。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UAV与任务形成异构动态图，动作不是一个抽象类别，而是从当前合法的UAV–task配对中选择。弱通信使观测与真实状态之间出现差异。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Multi-UAV Dynamic Task Assignment Based on Event-Triggered Graph Reinforcement Learning Under Weak Communication (local PDF)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建议讲代码时严格沿1到6的顺序。事件通信作为观测和belief更新的旁路机制，同时影响策略输入和通信代价。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E:/Z博士/github_submission/GPPO-paper-faithful-clean/scripts/train_paper_faithful.py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动作掩码是训练稳定性和环境可执行性的关键。即使策略给非法配对很高分，mask也会在采样前过滤它。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E:/Z博士/github_submission/GPPO-paper-faithful-clean/src/uav_assignment/paper_faithful_env.py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First paper PDF, problem formulation and action selection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理解重点是三层：关系注意力决定从谁取信息，Gate决定新旧信息如何融合，pair actor将节点表征变成动作分数。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First paper PDF, AHGNN equations</a:t>
            </a:r>
          </a:p>
          <a:p xmlns:a="http://schemas.openxmlformats.org/drawingml/2006/main">
            <a:r>
              <a:t>- E:/Z博士/github_submission/GPPO-paper-faithful-clean/src/uav_assignment/paper_faithful_models.py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300轮训练已经完成。复盘时重点是理解每个日志字段属于训练稳定性、策略性能还是选模证据，不能只盯最终reward。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E:/Z博士/github_submission/GPPO-paper-faithful-clean/scripts/train_paper_faithful.py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这页澄清300轮和后续验证的关系：没有再训练第二个同类模型，验证是围绕已有checkpoint展开的固定测试、回放和机制审计。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- E:/Z博士/github_submission/GPPO-paper-faithful-clean/reports/GATE_THREE_SEED_SCREENING.md</a:t>
            </a:r>
          </a:p>
          <a:p xmlns:a="http://schemas.openxmlformats.org/drawingml/2006/main">
            <a:r>
              <a:t>- E:/Z博士/github_submission/GPPO-paper-faithful-clean/deliverables/phase1b/DISTURBANCE_CALIBRATION.md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主要正向证据是GPPO-event明显优于两个PPO基线。与此同时，NoGate和SingleHead在该次固定测试中略优于Literal Adaptive，必须如实保留。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E:/Z博士/github_submission/GPPO-paper-faithful-clean/deliverables/stage1_gallery/phase1a_method_comparison.png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Event和Full是相同checkpoint在不同通信回放模式下的对照。任务质量不变而字节数下降99.93%，这是现阶段最清晰的机制收益。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E:/Z博士/github_submission/GPPO-paper-faithful-clean/deliverables/stage1_gallery/phase1a_communication_tradeoff.png</a:t>
            </a:r>
          </a:p>
          <a:p xmlns:a="http://schemas.openxmlformats.org/drawingml/2006/main">
            <a:r>
              <a:t>- E:/Z博士/github_submission/GPPO-paper-faithful-clean/artifacts/phase1_seed1_300/raw/GPPO_MECHANISM_REPORT_ZH.md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Gate均值和梯度证明实现没有失效，但单种子与三种子筛选都不支持夸大Adaptive收益。Phase1B的贡献是可审计扰动环境，不是新算法。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E:/Z博士/github_submission/GPPO-paper-faithful-clean/deliverables/stage1_gallery/phase1a_gate_screening.png</a:t>
            </a:r>
          </a:p>
          <a:p xmlns:a="http://schemas.openxmlformats.org/drawingml/2006/main">
            <a:r>
              <a:t>- E:/Z博士/github_submission/GPPO-paper-faithful-clean/reports/GATE_THREE_SEED_SCREENING.md</a:t>
            </a:r>
          </a:p>
          <a:p xmlns:a="http://schemas.openxmlformats.org/drawingml/2006/main">
            <a:r>
              <a:t>- E:/Z博士/github_submission/GPPO-paper-faithful-clean/deliverables/stage1_gallery/phase1b_severity_calibration.png</a:t>
            </a:r>
          </a:p>
          <a:p xmlns:a="http://schemas.openxmlformats.org/drawingml/2006/main">
            <a:r>
              <a:t>- E:/Z博士/github_submission/GPPO-paper-faithful-clean/deliverables/phase1b/DISTURBANCE_IMPLEMENTATION_AUDIT.json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主动说明复现边界能提升可信度。原论文完整环境和随机细节无法完全获得，因此当前成果是机制复现、代码审计和相对结论验证。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- First paper PDF and local reproduction repository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目前只需弄清第二篇论文如何表示偏好、如何做多目标权衡，以及这些思想是否可能连接到任务分配。具体改GRPO还是PPO要等会议明确研究对象。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Preference Controllable Reinforcement Learning with Advanced Multi-Objective Optimization (local PDF)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会议前不继续扩展实验矩阵。四个问题得到明确答案后，再决定GRPO/RLHF具体实现、偏好数据和评估协议。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E:/Z博士/github_submission/GPPO-paper-faithful-clean/docs/FIRST_PAPER_LEARNING_AND_REPRODUCTION_REPORT_ZH.md</a:t>
            </a:r>
          </a:p>
          <a:p xmlns:a="http://schemas.openxmlformats.org/drawingml/2006/main">
            <a:r>
              <a:t>- E:/Z博士/github_submission/GPPO-paper-faithful-clean/docs/GRPO_RLHF_DIRECTION_MEMO_ZH.md</a:t>
            </a:r>
          </a:p>
          <a:p xmlns:a="http://schemas.openxmlformats.org/drawingml/2006/main">
            <a:r>
              <a:t>- E:/Z博士/github_submission/GPPO-paper-faithful-clean/docs/OPENING_MEETING_ORAL_REHEARSAL_ZH.md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867ea25d764e7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83f0316536469f" /><Relationship Type="http://schemas.openxmlformats.org/officeDocument/2006/relationships/slideLayout" Target="/ppt/slideLayouts/slideLayout1.xml" Id="R892341cf8574403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2341cf857440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db6b88c41d4559" /><Relationship Type="http://schemas.openxmlformats.org/officeDocument/2006/relationships/image" Target="/ppt/media/image.png" Id="R9c0f232860d747fc" /><Relationship Type="http://schemas.openxmlformats.org/officeDocument/2006/relationships/notesSlide" Target="/ppt/notesSlides/notesSlide1.xml" Id="Ref7536568b1e4c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6bcd4f0e684dbb" /><Relationship Type="http://schemas.openxmlformats.org/officeDocument/2006/relationships/notesSlide" Target="/ppt/notesSlides/notesSlide2.xml" Id="R6fed06e3d9744c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70afb03aa40a9" /><Relationship Type="http://schemas.openxmlformats.org/officeDocument/2006/relationships/notesSlide" Target="/ppt/notesSlides/notesSlide3.xml" Id="R471fdd57c78e4e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37e401ee44cf0" /><Relationship Type="http://schemas.openxmlformats.org/officeDocument/2006/relationships/notesSlide" Target="/ppt/notesSlides/notesSlide4.xml" Id="R20910634f57046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9635ab1db4f84" /><Relationship Type="http://schemas.openxmlformats.org/officeDocument/2006/relationships/notesSlide" Target="/ppt/notesSlides/notesSlide5.xml" Id="Ra01dc47b6aec45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8a1479ffe140c9" /><Relationship Type="http://schemas.openxmlformats.org/officeDocument/2006/relationships/notesSlide" Target="/ppt/notesSlides/notesSlide6.xml" Id="Rccfbd36dceb04e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c991414e174b03" /><Relationship Type="http://schemas.openxmlformats.org/officeDocument/2006/relationships/notesSlide" Target="/ppt/notesSlides/notesSlide7.xml" Id="R005e68d99af347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a78231d2b40f7" /><Relationship Type="http://schemas.openxmlformats.org/officeDocument/2006/relationships/notesSlide" Target="/ppt/notesSlides/notesSlide8.xml" Id="R8a2d0fcea615431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b44705d0a64e57" /><Relationship Type="http://schemas.openxmlformats.org/officeDocument/2006/relationships/notesSlide" Target="/ppt/notesSlides/notesSlide9.xml" Id="Rd180af7a7ec247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91c757e049f8" /><Relationship Type="http://schemas.openxmlformats.org/officeDocument/2006/relationships/image" Target="/ppt/media/image2.png" Id="R6243737a9c024a2b" /><Relationship Type="http://schemas.openxmlformats.org/officeDocument/2006/relationships/notesSlide" Target="/ppt/notesSlides/notesSlide10.xml" Id="R9b41f4d8c01542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29bbbaba32481c" /><Relationship Type="http://schemas.openxmlformats.org/officeDocument/2006/relationships/image" Target="/ppt/media/image3.png" Id="R0d9f0c94ceb04aaa" /><Relationship Type="http://schemas.openxmlformats.org/officeDocument/2006/relationships/notesSlide" Target="/ppt/notesSlides/notesSlide11.xml" Id="R5d65e20d0fa74bf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db93361714f8b" /><Relationship Type="http://schemas.openxmlformats.org/officeDocument/2006/relationships/image" Target="/ppt/media/image4.png" Id="R7a8a12b9324347d1" /><Relationship Type="http://schemas.openxmlformats.org/officeDocument/2006/relationships/image" Target="/ppt/media/image5.png" Id="R3044c4ed1bad4785" /><Relationship Type="http://schemas.openxmlformats.org/officeDocument/2006/relationships/notesSlide" Target="/ppt/notesSlides/notesSlide12.xml" Id="Rf057a43affbd45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7a20bcbcf4688" /><Relationship Type="http://schemas.openxmlformats.org/officeDocument/2006/relationships/notesSlide" Target="/ppt/notesSlides/notesSlide13.xml" Id="Rbd7deff9887540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29cd942ab4da1" /><Relationship Type="http://schemas.openxmlformats.org/officeDocument/2006/relationships/notesSlide" Target="/ppt/notesSlides/notesSlide14.xml" Id="Rd3d90407ff3245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b49179561a4427" /><Relationship Type="http://schemas.openxmlformats.org/officeDocument/2006/relationships/image" Target="/ppt/media/image6.png" Id="R8c44336187294a69" /><Relationship Type="http://schemas.openxmlformats.org/officeDocument/2006/relationships/notesSlide" Target="/ppt/notesSlides/notesSlide15.xml" Id="R66d0295bbfa442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A80FC-0EB8-464E-8870-45060F26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0f232860d747fc"/>
          <a:stretch xmlns:a="http://schemas.openxmlformats.org/drawingml/2006/main"/>
        </p:blipFill>
        <p:spPr>
          <a:xfrm xmlns:a="http://schemas.openxmlformats.org/drawingml/2006/main">
            <a:off x="495300" y="421731"/>
            <a:ext cx="590550" cy="54718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EFFB7-98AF-4343-97B4-CCE1CFEA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东北大学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6FC611-0C00-4074-B81E-3B9D192B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7429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9E0AC-4773-4236-A143-9B307383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95400"/>
            <a:ext cx="11201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995A1-EF82-437A-BACB-42B81B95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212FE-3CAA-4B33-80F1-DD808640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7524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GPPO 多无人机</a:t>
            </a:r>
          </a:p>
          <a:p xmlns:a="http://schemas.openxmlformats.org/drawingml/2006/main">
            <a:pPr algn="l">
              <a:defRPr sz="37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动态任务分配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6B8640-1FF5-4AA4-A13A-4142A380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第一阶段总结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FA001-4AA9-4E53-B6A8-7C10F1ED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机制复现 · 300 轮验证 · 后续研究准备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1BB3B8-2FAA-4311-BD0F-C55BC2DB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819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5E5D9B-5D9A-4771-B977-4BB2C91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阶段汇报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E55824-0C98-490B-878D-53FEA7F7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2768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2026.08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C0FD40-02C7-44DB-B843-DA5341D6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29350"/>
            <a:ext cx="685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GPPO / Event-triggered communication / Preference learning</a:t>
            </a:r>
          </a:p>
        </p:txBody>
      </p:sp>
    </p:spTree>
    <p:extLst>
      <p:ext uri="{BB962C8B-B14F-4D97-AF65-F5344CB8AC3E}">
        <p14:creationId xmlns:p14="http://schemas.microsoft.com/office/powerpoint/2010/main" val="14195209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9C8E7A-7284-42E9-8282-6DD3D78F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8B8F2E-F2C2-4985-B141-C0AEC0044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汇报目录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4ECED-0C5D-44C0-AF46-B608884A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从论文机制到后续研究决策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7C3D2-929F-4678-9E82-DF0229A4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19B91-DE34-4E62-90C8-F58B2E28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4C67DE-91B3-43FE-A48E-F4180A4F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D6B9A-AC35-4754-9455-75613AEDB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A03F4-2E19-4823-A2E6-0E55D15C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5CF09-FD08-48E3-B8CF-DC82A42F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859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问题与方法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EA23F1-DD7A-48E3-AEC5-0EEFB013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003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任务建模、异构图、AHGNN 与事件通信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A6B586-38E8-4BC1-A86B-C87AAA3B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630E5-EC9C-447D-979D-6B099782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1A9678-0827-468F-A1BA-42088E63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6690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00562A-271D-404C-A714-F1B7DC04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859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代码与实验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F84FEE-1DDB-4647-BA59-7CEEBAFC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40030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训练链路、300轮证据与固定 test100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9C8012-085B-4D7A-8993-AC127FA2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DB11D-5428-43F7-87E9-5E286D83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7665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309137-CB80-4F89-BCA7-E4C292FE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BBC3D0-A70F-4D80-A1CA-E323C3F7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862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结果与边界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1B09F-C94C-4354-94B7-D65D7802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方法对照、通信收益、Gate 与扰动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944987-7D4C-466F-9610-FC64949C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2920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9576A7-4FBB-4B38-8A50-79384AC8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76650"/>
            <a:ext cx="52959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9AB52C-1A75-4EAD-89A4-2CC4EC7B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67150"/>
            <a:ext cx="80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E5F4D-79A9-4F73-B488-DAC94EC6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8620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后续计划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362C0A-DC82-48CF-8619-12D59364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005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偏好学习定位与开学会议问题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DC43D8-FEB2-403D-92EA-2A561673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5029200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85602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284826-9E54-43CA-9E10-2982A04B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FED745-459D-4419-ADFB-B8DBA3B4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阶段定位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77896C-1E47-4D59-AABB-6809BB4C3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现在的任务不是继续跑，而是把 300 轮讲明白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8ECA92-C208-48BB-A9D1-507E11D8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333355-D525-4F0D-8BA5-B52E1CF2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927946-9002-4C08-AF56-14C0EAF1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3E0351-BDAE-4088-8912-FC1C1451C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FA6D1C-F414-45D3-8BE6-CC51CE33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2149B-83A2-430F-BD52-117895DA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1C5688-EC5C-42E0-974E-830F416BD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第一篇方法链路已经实现并跑通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已有单种子 300 轮训练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已完成固定 test100 与机制审计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Event、Gate、扰动证据均已保存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CF39B-BABD-407B-B2BC-35150A4AE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50205-50A0-4B8B-964D-F7B4F2941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7AFC0C-42E0-4172-B9E4-0BF08D4E3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现在要做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95C08-E28F-4BFC-BDE5-47705C5E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逐模块理解环境、图网络与 PPO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从代码入口解释到指标输出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根据已有结果回答“为什么”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整理复现边界与会议问题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7CF09-C35F-41BA-8FFE-1ACD2FB0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35ABC-7D43-4220-820F-C24BEA68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66675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BBFB49-A8C2-4430-9D73-F3F5B5B13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79070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会议后再决定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14029C-B0A9-449C-8D55-4201DB0B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09800"/>
            <a:ext cx="30099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研究对象是否仍是任务分配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GRPO 替代 PPO 的具体接口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偏好信号与多目标的来源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• 新实验矩阵和评价指标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AC3243-E7EF-4DF4-8412-6969C0CF8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11391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F8E472-A2AD-469B-9561-7240FAE6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结论：之前的 300 轮就是现阶段的主训练，不需要再跑一份同类实验。</a:t>
            </a:r>
          </a:p>
        </p:txBody>
      </p:sp>
    </p:spTree>
    <p:extLst>
      <p:ext uri="{BB962C8B-B14F-4D97-AF65-F5344CB8AC3E}">
        <p14:creationId xmlns:p14="http://schemas.microsoft.com/office/powerpoint/2010/main" val="546064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E19102-0E75-4290-B782-70CB406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C6714-0B47-4EBF-9F84-5B916EFC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7172E-7ADF-4191-8967-45C0E417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动态多无人机任务分配：在弱通信下持续做可执行决策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CEB9E7-9DAC-4252-85F1-CA50786F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DC7449-FF16-4D0E-9E20-8FCFCED1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B12C0-9AD5-4CE0-88D2-3BAFA1B6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8C5D9-F602-4D01-BF7E-A5FFB10B6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现实约束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6896DB-747E-4749-AFE3-5D7720E2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285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673AE-83CA-4D83-B610-F73F3A9D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574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366210-E161-4265-9C22-108AEA1B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288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动态到达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BCEE9-4269-4586-8F4C-81823DF5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795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任务在执行过程中随机出现，策略不能只做一次静态匹配。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F24025-F1F3-48B1-A86A-C3B48233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2857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5D8706-4706-4ADE-B64B-C39ABC26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05200"/>
            <a:ext cx="66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D0F33-4127-49D4-B713-61BB7EB5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766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能力异构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0061E-E503-4FB9-9526-0F813364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95750"/>
            <a:ext cx="2438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141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不同 UAV 的速度、能力与任务适配关系不同。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9077F8-6F0B-4833-9C0F-18333624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2857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4D7432-9F37-49A1-80B5-6C6CF3E5C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E7AA8E-7B08-41EF-A83E-BFC077B1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244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通信受限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409985-79B6-4BD7-8E7B-D92B490F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542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局部 belief 可能过时，需要控制信息同步的时机和代价。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0450B-D6ED-49C8-9791-03409B08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5811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决策对象：可行的 UAV–task pair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F73421-0E18-42AD-A4AE-ACDA220EB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4790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D77D9B-5A78-4E11-8B76-695080A18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19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FB7035-F6DF-4AFD-B46C-C234D68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4805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175B20-5FBD-4A78-AE65-0ADE5D62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195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2C8348-5ACC-4533-9433-9F381533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648200"/>
            <a:ext cx="1619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AA8736-3C71-45EE-99FE-607F6E16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8196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UAV 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16358B-11D6-4598-9E06-0F3BE49D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9550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7137AE-758C-43F5-9B70-91D1E4229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669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侦察任务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465A4A-24CD-480A-86D5-FC418121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29565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916330-BE80-4A94-803A-C65E11DC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467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运输任务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2AFD6F-E500-44A3-8654-1F1EAA3C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495800"/>
            <a:ext cx="18097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F34652-8661-4E00-8F4F-5D2014D6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667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应急任务</a:t>
            </a:r>
          </a:p>
        </p:txBody>
      </p:sp>
      <p:cxnSp>
        <p:nvCxnSpPr>
          <p:cNvPr id="76" name=""/>
          <p:cNvCxnSpPr>
            <a:stCxn xmlns:a="http://schemas.openxmlformats.org/drawingml/2006/main" id="21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 flipV="1">
            <a:off x="5715000" y="240982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4E79"/>
            </a:solidFill>
            <a:prstDash val="solid"/>
            <a:tailEnd type="arrow" w="sm" len="sm"/>
          </a:ln>
        </p:spPr>
      </p:cxnSp>
      <p:cxnSp>
        <p:nvCxnSpPr>
          <p:cNvPr id="77" name=""/>
          <p:cNvCxnSpPr>
            <a:stCxn xmlns:a="http://schemas.openxmlformats.org/drawingml/2006/main" id="21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715000" y="2562225"/>
            <a:ext cx="3676650" cy="22479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DE3"/>
            </a:solidFill>
            <a:prstDash val="solid"/>
            <a:tailEnd type="arrow" w="sm" len="sm"/>
          </a:ln>
        </p:spPr>
      </p:cxnSp>
      <p:cxnSp>
        <p:nvCxnSpPr>
          <p:cNvPr id="78" name=""/>
          <p:cNvCxnSpPr>
            <a:stCxn xmlns:a="http://schemas.openxmlformats.org/drawingml/2006/main" id="23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 flipV="1">
            <a:off x="5715000" y="360997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4E79"/>
            </a:solidFill>
            <a:prstDash val="solid"/>
            <a:tailEnd type="arrow" w="sm" len="sm"/>
          </a:ln>
        </p:spPr>
      </p:cxnSp>
      <p:cxnSp>
        <p:nvCxnSpPr>
          <p:cNvPr id="79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 flipV="1">
            <a:off x="5715000" y="2409825"/>
            <a:ext cx="3676650" cy="255270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8DDE3"/>
            </a:solidFill>
            <a:prstDash val="solid"/>
            <a:tailEnd type="arrow" w="sm" len="sm"/>
          </a:ln>
        </p:spPr>
      </p:cxnSp>
      <p:cxnSp>
        <p:nvCxnSpPr>
          <p:cNvPr id="80" name=""/>
          <p:cNvCxnSpPr>
            <a:stCxn xmlns:a="http://schemas.openxmlformats.org/drawingml/2006/main" id="25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 flipV="1">
            <a:off x="5715000" y="4810125"/>
            <a:ext cx="367665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6717E"/>
            </a:solidFill>
            <a:prstDash val="solid"/>
            <a:tailEnd type="arrow" w="sm" len="sm"/>
          </a:ln>
        </p:spPr>
      </p:cxn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7F3E1B-2C1C-4340-B1A1-C171EF4E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619750"/>
            <a:ext cx="1600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6FF023-6B30-4E2E-929C-3E159ECC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667375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目标：完成任务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73A4A8-7265-47E3-BC48-1E734D619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5619750"/>
            <a:ext cx="1390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248F2E-6B6C-4A64-9878-4DCBB88E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673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↓ makespan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1816F-BAF6-4A27-8020-BFC15BE4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619750"/>
            <a:ext cx="13906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21A01C-05C0-483C-9121-74AE77DBB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67375"/>
            <a:ext cx="120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↓ 通信代价</a:t>
            </a:r>
          </a:p>
        </p:txBody>
      </p:sp>
    </p:spTree>
    <p:extLst>
      <p:ext uri="{BB962C8B-B14F-4D97-AF65-F5344CB8AC3E}">
        <p14:creationId xmlns:p14="http://schemas.microsoft.com/office/powerpoint/2010/main" val="7043967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B233F80-DE54-4D43-BE37-E8DC8E6E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D5043-85F2-4D9C-8247-33F996DA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AFA310-8399-41F0-AB38-0AEBE84A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端到端方法链：状态如何变成一次分配动作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D8EEE-AFB5-482A-91C2-85C33514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7E7836-06EF-4C68-86EA-1BD8383B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B87AC4-E068-4978-B0B2-5C0B7AA4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5E007-AA05-4C4B-B2EE-18015B11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27383-E710-4637-A4E4-DD86D2F43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0A7C6C-4684-4D79-B218-B609DA2D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动态环境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731C10-270E-4304-BB44-7AB81640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404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任务到达 / UAV状态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295A0E-32CD-4E33-9326-2A2402B8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B0BF9E-55DE-4D6F-95E9-94A5DAC0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9881C-1923-4CB2-9429-79D0AC30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异构图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1CCEA-6857-476C-909B-7799D888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18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节点、关系、边特征</a:t>
            </a:r>
          </a:p>
        </p:txBody>
      </p:sp>
      <p:cxnSp>
        <p:nvCxnSpPr>
          <p:cNvPr id="6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9812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38A52E-25A3-44A9-B090-5D4223C5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1F7973-4F99-4FC5-BFD6-496783451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E4527-8142-47E5-A7DE-5EF8D7BEA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AHGNN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F2BFE-D939-4348-B297-42C279BD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注意力 + Gate</a:t>
            </a:r>
          </a:p>
        </p:txBody>
      </p:sp>
      <p:cxnSp>
        <p:nvCxnSpPr>
          <p:cNvPr id="67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90525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B14E35-1EFF-429E-A54B-A1ABDF59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22B445-1D6F-4D07-8A14-5D31F8AD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4A357B-1845-4F31-A8E6-5A258016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动作掩码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000599-B2DE-4CF1-82EB-97AFA1D6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过滤非法 pair</a:t>
            </a:r>
          </a:p>
        </p:txBody>
      </p:sp>
      <p:cxnSp>
        <p:nvCxnSpPr>
          <p:cNvPr id="72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8293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79C062-D493-4C44-9342-C930C70C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7D3298-AE4F-4520-963B-F24B3DB2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657870-5448-4516-82BF-BC7A0E62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Actor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A3D036-C27B-4CB1-A896-D4AD5138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采样分配动作</a:t>
            </a:r>
          </a:p>
        </p:txBody>
      </p:sp>
      <p:cxnSp>
        <p:nvCxnSpPr>
          <p:cNvPr id="77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75335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D37D9-5208-4892-A09C-C9852DDF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47900"/>
            <a:ext cx="158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D637C2-F8FB-4CCF-B77D-6AFEB227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400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B73112-2B71-4C28-A20B-FA7B068E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194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PPO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6B3141-2426-4179-B1D4-15ED77F9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17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GAE + clipped update</a:t>
            </a:r>
          </a:p>
        </p:txBody>
      </p:sp>
      <p:cxnSp>
        <p:nvCxnSpPr>
          <p:cNvPr id="82" name=""/>
          <p:cNvCxnSpPr>
            <a:stCxn xmlns:a="http://schemas.openxmlformats.org/drawingml/2006/main" id="26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9677400" y="300990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8D5B14C-7F52-44BD-9B6A-D3A227D6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113919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79FACE-DC89-4C73-B5ED-856538CD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事件触发通信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B78E83-E12E-4C9A-AC46-82FB200E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05325"/>
            <a:ext cx="8858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只在满足触发条件时同步 belief，而不是每一步广播全量信息。它贯穿观测更新链路，不是一个孤立的后处理模块。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D8F151-F311-47AB-8A7D-F90A2843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8D36C5-D555-45D7-A6B3-13CB4028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局部状态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6C5538-4609-47E4-9F8F-7259355E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048250"/>
            <a:ext cx="952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019BE7A-BD4E-4ABD-BF7C-6B52C790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0958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belief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DF1B7C-D664-4803-BA5A-633FE2EB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1347D5-9BE9-4709-AD66-799D3A14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EA9708-2226-46FA-BDE2-C3BD001A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4825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56409B-2278-4F7E-BF99-36665BAA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95875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通信统计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4049FA2-0941-4849-AEA2-F34CF7A9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8645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rPr>
              <a:t>需要掌握的“全流程”就是：从环境入口沿这条链路解释到测试指标输出。</a:t>
            </a:r>
          </a:p>
        </p:txBody>
      </p:sp>
    </p:spTree>
    <p:extLst>
      <p:ext uri="{BB962C8B-B14F-4D97-AF65-F5344CB8AC3E}">
        <p14:creationId xmlns:p14="http://schemas.microsoft.com/office/powerpoint/2010/main" val="471737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BB28F6-CA1A-4336-8DF1-2FA665C5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11E8D-42A9-45BE-B386-16CBA4DC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885EC9-67A7-4E5F-95E4-473E7F63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异构图负责表达关系，动作掩码负责保证可执行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361DD5-7CFA-41D0-8FA6-F7474E7C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7F7FD0-6615-4605-B112-501B9F3C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CAADC-C15F-4FAE-BA7B-35CE2C8D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06A546-39AB-46FA-9A81-820ACCDD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81150"/>
            <a:ext cx="5715000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BA7FE0-8EE0-4D35-9B7B-F352FA3E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异构图状态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B2B784-97E4-4792-9E2B-B5FF62E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428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605050-5323-481E-A2AA-01D7FC01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146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UAV 节点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E6B21-5320-4488-95BA-0411A704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1428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7ECD18-CBDC-46A6-A83B-4EAE66F7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146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Task 节点</a:t>
            </a:r>
          </a:p>
        </p:txBody>
      </p:sp>
      <p:cxnSp>
        <p:nvCxnSpPr>
          <p:cNvPr id="50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24100" y="30480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F4E79"/>
            </a:solidFill>
            <a:prstDash val="solid"/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1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H="1">
            <a:off x="895350" y="3048000"/>
            <a:ext cx="4724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E1815-B224-4EA1-91D5-41CBD865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9624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E961A4-3704-4E97-916D-67D08C72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0100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能力匹配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CF3E6-9101-468A-95A6-54BC466F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962400"/>
            <a:ext cx="1333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ED5FC-8B81-4106-B6FD-5DE2B6701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1002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距离 / 时间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114D59-A74C-451A-89D3-B89A57629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9624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DEDF4A-6DDF-4FC2-8F04-C67211E4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0100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任务状态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F7B374-8240-47A7-8949-004EF6EC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图会随任务到达、完成和通信更新而变化。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20FE7C-F4E0-41D8-AEAA-F1687517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81150"/>
            <a:ext cx="5314950" cy="4019550"/>
          </a:xfrm>
          <a:prstGeom xmlns:a="http://schemas.openxmlformats.org/drawingml/2006/main" prst="roundRect">
            <a:avLst>
              <a:gd name="adj" fmla="val 18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5DB8BF-F984-445D-8334-B54725A64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809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动作掩码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E67D0-A578-4F5C-B1F3-B188A0BF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193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686F85-3354-4C84-B965-58941F40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5527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UAV1 → Task1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5D6EF3-E2A9-46E8-B942-955BE9A9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527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可行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E031B4-F59E-4E94-9A3B-E63B1247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8610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E5B7E6-4826-4ABD-8324-36531C83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UAV1 → Task2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07981A-9DCD-4404-80AE-FBB5DE92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194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能力不匹配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12B3739-CBF0-413F-9138-EE96F45C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DD2170-2992-4343-B2E5-891CD16E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862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UAV2 → Task1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6FACA1-60E4-4FA4-B3CC-2224F917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8862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任务已分配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745193-0BF8-4D88-A357-13218FBF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19600"/>
            <a:ext cx="4762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6053DD-A904-4BFD-B79A-A67413E4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5529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UAV2 → Task3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E430FD-8567-42C4-B109-D6B6EEA3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5529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可行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DDF59E-69E8-4B5F-9964-D4228FE1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13919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89E5AF-801B-4181-B85F-50474081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3407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分工：AHGNN 学“哪个配对更合适”，mask 保证“只在合法配对里选”。</a:t>
            </a:r>
          </a:p>
        </p:txBody>
      </p:sp>
    </p:spTree>
    <p:extLst>
      <p:ext uri="{BB962C8B-B14F-4D97-AF65-F5344CB8AC3E}">
        <p14:creationId xmlns:p14="http://schemas.microsoft.com/office/powerpoint/2010/main" val="49284872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1D0D5C-86F7-42A9-A9E1-14C474C80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91FFB-2582-4166-9445-297B493D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 问题与方法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8607D-9A70-478B-9788-3B9E2E76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AHGNN：关系注意力、节点更新与自适应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10D94-3CEE-4924-8CDE-C70CEDF1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427D0-D707-4706-9D49-AA82B691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4B89F-0174-4A56-B7BB-74C8C713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F1CCB-7D4D-4F60-B9E4-04FDFEB4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21DD1-9FD4-49BC-A46B-05AD228C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F86"/>
          </a:solidFill>
          <a:ln xmlns:a="http://schemas.openxmlformats.org/drawingml/2006/main" w="9525">
            <a:solidFill>
              <a:srgbClr val="355F8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103FB-EAA6-4B5B-A15C-1EC254A8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① 关系注意力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5F868-23D0-4ABA-8F17-43890F41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不同关系分别计算权重，让消息聚合体现任务相关性。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0E3AE7-BD3E-446F-A627-1BE16F41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CC183-AED5-4583-8608-A60896B2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C37E72-A55E-4219-B9B8-BD31E3A4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② 节点更新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DA8FB-DDBA-48F4-9205-6A17C651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聚合邻居信息，得到 UAV 与 task 的新 embedding。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A384E-50EC-4A0C-AE8D-7304C5D2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7615AF-D513-4B29-BB95-BFF597AD0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D168FB-DE11-400E-83A8-BB24A933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③ 自适应 Gate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0756F4-7D01-4042-8282-7D33FAC16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融合旧状态与新消息；有梯度不等于一定带来收益。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A1E3B-79B9-4627-BDF8-8449D945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19250"/>
            <a:ext cx="26860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9C53F1-365B-40BC-9C26-051992F1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19250"/>
            <a:ext cx="66675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AA3878-F4E8-4893-AFAE-E1CAEF09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9070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④ Pair logits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7D159A-0E34-4CEB-BE41-514D8BF6A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09800"/>
            <a:ext cx="2266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拼接 UAV–task 表征，输出合法动作的分数。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08D49A-BDE1-4DC5-BE39-A0A30BE4C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47DD33-700F-4837-8933-174C1A392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关系消息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1A2C36-8F44-418C-A3E2-459A0630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2476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mᵢ = Σⱼ αᵢⱼ W hⱼ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DFB224-8A64-4EC2-970D-966AF5C1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Gate 融合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01A46B-D9AC-43C8-85AB-163497EB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229100"/>
            <a:ext cx="409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hᵢ′ = gᵢ ⊙ mᵢ + (1−gᵢ) ⊙ hᵢ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0930DB-CC0C-4B7E-BF99-00F8155B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29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动作分数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B89532-682F-42DD-BC7D-0C6D5708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29100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logit(i,j) = f([hᵢ, hⱼ])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3E8F66-CD92-4B4D-83DB-0987A6B3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11391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rPr>
              <a:t>GPPO = Graph encoder + PPO；这里的 G 是 Graph，不是 GRPO 的 Group Relative。</a:t>
            </a:r>
          </a:p>
        </p:txBody>
      </p:sp>
    </p:spTree>
    <p:extLst>
      <p:ext uri="{BB962C8B-B14F-4D97-AF65-F5344CB8AC3E}">
        <p14:creationId xmlns:p14="http://schemas.microsoft.com/office/powerpoint/2010/main" val="2063859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BCA827-67D0-4548-BD1E-74A04386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6F884-2E63-4D1C-A232-C28876F5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02 代码与实验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EF15F1-6B4D-42AC-8E80-3D7819053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训练闭环：环境交互、轨迹缓存、GAE 与 PPO 更新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1D461B-82A6-47B7-8157-4DA621290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ED4AF-0EE6-4FAB-B548-CB6A1557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AD0B0E-D056-4397-8044-086B0BF4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DE1A83-0F92-4368-9602-51BBAAAB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8A7AE-5763-489C-A18D-05D9335C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F0242-C13A-4E40-85F8-93AD681C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reset / step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A26E8-3B81-4F11-AB11-47AC1946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375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环境生成任务并推进状态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326012-03F0-411D-BDA1-3896E2FF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A8927-99AD-4B17-8165-6838E198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C412-68A5-408D-91B1-368376CD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graph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5FA74-6A4F-44B0-89F5-B1DFC264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AHGNN 生成 pair logits 与 value</a:t>
            </a:r>
          </a:p>
        </p:txBody>
      </p:sp>
      <p:cxnSp>
        <p:nvCxnSpPr>
          <p:cNvPr id="6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352675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BCCBB-30E3-42FF-AD3A-68CD9590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86F4E8-9D64-4C16-B91D-BE77FDEF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BFC2AB-DA1B-4A5D-A5FE-275359DC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masked sample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E66D4E-6E36-437D-87EA-6CBE107E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只从合法动作中采样</a:t>
            </a:r>
          </a:p>
        </p:txBody>
      </p:sp>
      <p:cxnSp>
        <p:nvCxnSpPr>
          <p:cNvPr id="73" name=""/>
          <p:cNvCxnSpPr>
            <a:stCxn xmlns:a="http://schemas.openxmlformats.org/drawingml/2006/main" id="11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629150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B30C35-037F-455C-B455-F2235F69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D24D80-709A-491E-8C6D-DACBBBAE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E6D02E-792C-4FD3-940F-AAFCAFD6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rollout buffer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49E1F0-A11E-4910-B03B-00C0C681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103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保存 reward、logprob、value</a:t>
            </a:r>
          </a:p>
        </p:txBody>
      </p:sp>
      <p:cxnSp>
        <p:nvCxnSpPr>
          <p:cNvPr id="78" name=""/>
          <p:cNvCxnSpPr>
            <a:stCxn xmlns:a="http://schemas.openxmlformats.org/drawingml/2006/main" id="16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6905625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16FD50-768D-4C2E-96EC-70281211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1952625" cy="140970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65BFA-19CF-4827-8F0C-022D2EF5E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133600"/>
            <a:ext cx="266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E4BD55-9D41-480C-88DD-C69A69C6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95550"/>
            <a:ext cx="16478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GAE + update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FB3070-4428-4996-B390-49E65A7A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76550"/>
            <a:ext cx="1647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911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计算优势并更新 actor / critic</a:t>
            </a:r>
          </a:p>
        </p:txBody>
      </p:sp>
      <p:cxnSp>
        <p:nvCxnSpPr>
          <p:cNvPr id="83" name=""/>
          <p:cNvCxnSpPr>
            <a:stCxn xmlns:a="http://schemas.openxmlformats.org/drawingml/2006/main" id="21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9182100" y="2705100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B10059-5F25-4648-9569-FFF2C6F4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43350"/>
            <a:ext cx="7239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079771-DBD6-424F-8CDE-A6625EC3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训练中应该会读的信号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CE0D7-CBC2-4296-B129-A46F7E62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48200"/>
            <a:ext cx="1466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772EEAF-07BE-443B-BB3C-878D3CF3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958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episode reward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9E3BD1-A2C9-4BD7-A91D-8729CAD52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648200"/>
            <a:ext cx="1200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7DDF92-DA56-4DE2-95F1-43327BC8D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makespan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8A79AC-BC42-4DD7-A551-D1DAAD64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48200"/>
            <a:ext cx="16764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19739E-DA76-46E1-A3D4-FD7942D8B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695825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actor / value loss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2642C8-4878-4617-9203-326B9AA9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48200"/>
            <a:ext cx="13716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19102E4-0515-4F57-B0DD-17DCBCB8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695825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entropy / KL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916D4A-26FD-4189-B981-422DE621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B851A1-044C-436C-A18B-B92B8955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1492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clip fraction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85297E9-22F7-4160-B7BC-8B0AE65FA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6730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47E77D-8FFB-48D0-9D42-A50F0D74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11492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Gate gradient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1F43C4-2AAE-4F68-8621-40826477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67300"/>
            <a:ext cx="1409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5417D5-C6AA-47E0-A52B-1DFCB12B3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14925"/>
            <a:ext cx="121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illegal action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1A9BA3-F0AA-48A9-A9DD-3420FB47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4335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F5E9184-308D-446C-B336-D3A30071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767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300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0784DD-9022-4DCB-97E7-2C21A5DD4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9105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已有训练 iterations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31001DE-BADF-49E0-81E0-6B4442EBE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943350"/>
            <a:ext cx="1809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4AAC118-A76E-40FC-99F4-CC878983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076700"/>
            <a:ext cx="14668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100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0CF57CB-47EC-4FE2-B3F6-F0EAD019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59105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固定测试实例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2738D55-707A-4972-AB44-CFF034CAA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0"/>
            <a:ext cx="11391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rPr>
              <a:t>checkpoint、训练曲线和 test100 是三类不同证据，需要对应起来解释。</a:t>
            </a:r>
          </a:p>
        </p:txBody>
      </p:sp>
    </p:spTree>
    <p:extLst>
      <p:ext uri="{BB962C8B-B14F-4D97-AF65-F5344CB8AC3E}">
        <p14:creationId xmlns:p14="http://schemas.microsoft.com/office/powerpoint/2010/main" val="460430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A3779B-EEF8-4BC4-B3ED-43823FA7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46F34F-6571-445E-913C-9CDE7EB2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02 代码与实验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DB62B-798E-4761-9AA9-6CA58226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证据地图：一份主训练，四类验证，不再重复跑同类实验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1C74D-CC0D-4FC6-B68E-BF94B5110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22129-42A4-457C-8FB0-DFD0688A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4679A-0A35-4B2F-9C06-C5A6AA03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75887-57F8-461C-99D9-437288A5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2476500" cy="31813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3CFB1-F262-4599-B961-2CE2A1AE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BFD4E8"/>
                </a:solidFill>
                <a:latin typeface="Microsoft YaHei"/>
                <a:ea typeface="Microsoft YaHei"/>
                <a:cs typeface="Microsoft YaHei"/>
              </a:rPr>
              <a:t>主训练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332587-607A-4CFF-9D1A-E8EF37CE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81250"/>
            <a:ext cx="2000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42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GPPO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seed 1</a:t>
            </a:r>
          </a:p>
          <a:p xmlns:a="http://schemas.openxmlformats.org/drawingml/2006/main">
            <a:pPr algn="l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300 iterations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7430B-6D41-4A66-88D6-BB5B8D26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8097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43B6B"/>
          </a:solidFill>
          <a:ln xmlns:a="http://schemas.openxmlformats.org/drawingml/2006/main" w="9525">
            <a:solidFill>
              <a:srgbClr val="143B6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A4098D-3B01-41E7-96ED-C4B86F4F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671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 checkpoint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EB7E6-465A-4FED-9F23-BE000C9E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2B9FE5-2740-4336-8C86-096A5402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5376C0-90A8-4485-8DCF-0595CF8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7907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固定 test100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B795C-2FBA-4515-B9D0-6A897A08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20980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六种机制的 makespan 与完成率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97983D-2748-4319-9572-28D13E782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424EC8-9B87-467E-AC20-2EA631A3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61925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FCC755-2A43-4AAF-AFE1-CB2AD03A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9070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Event / Full replay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EF4E4B-5AB7-4D60-BAA7-442403BC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0980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相同 checkpoint 下的通信代价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AD8CA7-E010-48A0-86D8-7933E260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2900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5DDAE5-90CD-4C3A-9458-8ED6ECEF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2900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82511-7B8E-4AD5-9157-42A5BBB48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004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Gate 审计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60BB35-D43E-49E4-A825-1EFD0312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1955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梯度、均值、消融与三种子筛选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D26F14-A125-488C-8D5A-35C5F227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29000"/>
            <a:ext cx="381000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67937F-EFE2-4DC1-965E-7C8C8E5D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429000"/>
            <a:ext cx="66675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F29D2EA-A29D-4602-B97D-484B8EA4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004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Phase 1B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390EC3-6388-4CED-BDA3-550603C7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9550"/>
            <a:ext cx="33909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丢包 / 时延 / 能量 / makespan 扰动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2A725B-F8E1-43D8-B04E-F0DF1024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训练证据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F2337-B154-4B04-BD39-EB5F3C45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626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8CCE10-104E-4669-A633-EF6559E1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3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loss / reward / entropy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69A28D-ED50-4F3B-973C-E0D0DC94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性能证据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93F2E1-58C4-4CC1-BE48-5302990ED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734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test100 / makespan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4644F2A-4724-4B00-B07A-A38BDE0D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机制证据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4ADB784-0D17-47CA-9B20-8A178374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34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mask / Gate / communication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C8BC8E-3546-465D-AC43-EE5F32A5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2197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稳健性证据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A0EA81-D184-4EFD-A00C-D1641977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57340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disturbance</a:t>
            </a:r>
          </a:p>
        </p:txBody>
      </p:sp>
    </p:spTree>
    <p:extLst>
      <p:ext uri="{BB962C8B-B14F-4D97-AF65-F5344CB8AC3E}">
        <p14:creationId xmlns:p14="http://schemas.microsoft.com/office/powerpoint/2010/main" val="727846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3B0572-B2DE-448A-9FFD-340A9D62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89D00-0202-4EA4-AA40-D3DF7222D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9D2628-C564-47F4-BA73-CE050B01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固定 test100：GPPO 优于 PPO，但简单 Gate 变体更好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E648A-362C-4CDC-B0CB-5CA5F6C3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0A8293-9EC7-43D6-BFE7-7AEEDD56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0B468C-2841-4514-9AA7-6F55BEE68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CFE42E-FE45-48B2-B96C-C94E6F31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810500" cy="4648200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3737a9c024a2b"/>
          <a:stretch xmlns:a="http://schemas.openxmlformats.org/drawingml/2006/main"/>
        </p:blipFill>
        <p:spPr>
          <a:xfrm xmlns:a="http://schemas.openxmlformats.org/drawingml/2006/main">
            <a:off x="552450" y="1928922"/>
            <a:ext cx="7505700" cy="3705006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263077-98E0-40B9-8F92-98C47CCC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D13FD-50B7-4264-BC0D-4E437F83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−4.0046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E617BA-8EF0-413A-8195-0906620D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2288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GPPO-event vs PPO-none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2C9BD9-53DE-4E25-966F-7BF91803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1940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734701-95E1-4511-A9A7-5A296E80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95275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−3.8617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F8B440-5AEB-44DD-9F4C-5F4211A33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6710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GPPO-event vs PPO-event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A5070C-2CCF-4C54-8C76-409F4852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57650"/>
            <a:ext cx="3219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0B7669-8B22-4167-957E-C52FE9935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191000"/>
            <a:ext cx="2876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345152-DEB2-47F9-BA1F-9A3B40FEE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705350"/>
            <a:ext cx="2876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六组完成率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D5BE5E-6E6C-4F88-A581-D98F8C93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95900"/>
            <a:ext cx="32194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CF2BCA-43A8-4F05-A835-91F73053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448300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读法：makespan 越低越好</a:t>
            </a:r>
          </a:p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误差条为 instance-level std</a:t>
            </a:r>
          </a:p>
        </p:txBody>
      </p:sp>
    </p:spTree>
    <p:extLst>
      <p:ext uri="{BB962C8B-B14F-4D97-AF65-F5344CB8AC3E}">
        <p14:creationId xmlns:p14="http://schemas.microsoft.com/office/powerpoint/2010/main" val="12314971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FC26B1-7AE1-4F6D-8B55-6D417888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B37948-D927-44D1-8799-D153B1B1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3C250-41B7-4C38-82B7-21FA696B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事件通信：几乎不损失任务质量，大幅降低通信量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8E5E9-D09D-40FE-A36B-AFBD3E3A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E132B-0CD7-4886-8123-9445F3A6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121BF-3C17-40E4-9AE9-81C54448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B8D67-11F5-4F16-8D2E-F5E4F01D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7105650" cy="4648200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f0c94ceb04aaa"/>
          <a:stretch xmlns:a="http://schemas.openxmlformats.org/drawingml/2006/main"/>
        </p:blipFill>
        <p:spPr>
          <a:xfrm xmlns:a="http://schemas.openxmlformats.org/drawingml/2006/main">
            <a:off x="761758" y="1657350"/>
            <a:ext cx="6382235" cy="42481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40EDB-0CF7-4CDC-9C3E-5DC3E79B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81150"/>
            <a:ext cx="1828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458661-D38B-4076-80D1-4BDDF199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1485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16.1673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8C0A44-C04D-4CD6-BACB-C280434A1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288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Event makespan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B73CC3-57A6-4B2D-94BD-A4A5BF155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58115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58FAF-9AC2-4361-A62F-D2EB49AE5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714500"/>
            <a:ext cx="1581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16.1673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6C797-8AF4-40B3-B28D-FEC776BE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2288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Full replay makespan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362B39-8F09-4F3E-86F6-C36FEAD8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76550"/>
            <a:ext cx="1828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38F30C-E6A2-4C1C-8DB0-5D9C1D58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09900"/>
            <a:ext cx="1485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2,790.9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1D425B-3A36-402B-8F63-6AF91CA7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242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Event bytes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6A333-2E77-462A-BDDD-E495A211B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76550"/>
            <a:ext cx="19240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87F120-7001-44E8-8ECE-8A4C5A62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009900"/>
            <a:ext cx="1581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778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4,266,481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3E296E-464B-480F-A220-826404C38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524250"/>
            <a:ext cx="1581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Full replay bytes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D05623-1594-4A05-A690-3CFEC601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71950"/>
            <a:ext cx="394335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E80ABE-13F4-40E0-AFDC-745077CE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624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99.93%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72BF62-E7DB-4081-B1DD-5CFD2E93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67225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通信量下降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F857C6-BF49-4CA5-8C98-FA23151E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91100"/>
            <a:ext cx="3486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rPr>
              <a:t>同一 checkpoint 回放中 makespan 相同。</a:t>
            </a:r>
          </a:p>
          <a:p xmlns:a="http://schemas.openxmlformats.org/drawingml/2006/main">
            <a:pPr algn="l">
              <a:def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DCE8F4"/>
                </a:solidFill>
                <a:latin typeface="Microsoft YaHei"/>
                <a:ea typeface="Microsoft YaHei"/>
                <a:cs typeface="Microsoft YaHei"/>
              </a:rPr>
              <a:t>证明的是通信机制收益，不是两套独立训练。</a:t>
            </a:r>
          </a:p>
        </p:txBody>
      </p:sp>
    </p:spTree>
    <p:extLst>
      <p:ext uri="{BB962C8B-B14F-4D97-AF65-F5344CB8AC3E}">
        <p14:creationId xmlns:p14="http://schemas.microsoft.com/office/powerpoint/2010/main" val="17475592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7A86C1-A92C-48D2-8B96-2307252A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E15FE-8FAF-4401-8B7C-16E6E56E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939C57-68D6-4C23-B830-73ABE30D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负面结果与扩展结果：Gate 未稳定增益，扰动链路可审计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59CB4-EE67-4617-B6B9-3F795282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65E69-C556-422E-839D-6468C171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7F1153-3E18-4ED2-9CB8-55A11C1F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8DC280-AD10-46B4-B527-BDC6AFF0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04950"/>
            <a:ext cx="550545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a12b9324347d1"/>
          <a:stretch xmlns:a="http://schemas.openxmlformats.org/drawingml/2006/main"/>
        </p:blipFill>
        <p:spPr>
          <a:xfrm xmlns:a="http://schemas.openxmlformats.org/drawingml/2006/main">
            <a:off x="552450" y="1816701"/>
            <a:ext cx="5200650" cy="2576899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A1533-CFC0-4DF3-BC0E-4727B2A0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Gate 筛选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9D38C-28BF-4BB4-94DC-E96BE2AF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292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Adaptive-score 15.9025</a:t>
            </a:r>
          </a:p>
          <a:p xmlns:a="http://schemas.openxmlformats.org/drawingml/2006/main">
            <a:pPr algn="l">
              <a:def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NoGate 15.9805｜SingleHead 15.9613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3FA5D5-C5A3-4B34-BF9F-67CFF52D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04950"/>
            <a:ext cx="550545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44c4ed1bad4785"/>
          <a:stretch xmlns:a="http://schemas.openxmlformats.org/drawingml/2006/main"/>
        </p:blipFill>
        <p:spPr>
          <a:xfrm xmlns:a="http://schemas.openxmlformats.org/drawingml/2006/main">
            <a:off x="6890562" y="1676400"/>
            <a:ext cx="4297326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06029-E6CB-46B5-915C-EBA3E4F6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6863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Phase 1B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32A46-44A4-4A0A-A3B5-B55B3225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0292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114 项自动化测试通过</a:t>
            </a:r>
          </a:p>
          <a:p xmlns:a="http://schemas.openxmlformats.org/drawingml/2006/main">
            <a:pPr algn="l">
              <a:def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丢包率 0 → 18.84%，完成率四档均为 1.0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E8A99-23EE-4B2B-8554-280EC27A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53150"/>
            <a:ext cx="113919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FAFA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67E79-03B1-42CF-A80E-705651BD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91250"/>
            <a:ext cx="11163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889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rPr>
              <a:t>解释边界：Gate 有梯度、实现有效，但现有证据不能证明它稳定带来收益；扰动环境是后续研究的实验地基。</a:t>
            </a:r>
          </a:p>
        </p:txBody>
      </p:sp>
    </p:spTree>
    <p:extLst>
      <p:ext uri="{BB962C8B-B14F-4D97-AF65-F5344CB8AC3E}">
        <p14:creationId xmlns:p14="http://schemas.microsoft.com/office/powerpoint/2010/main" val="3032400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71BAE0-9506-4730-B0C4-ACF77B3A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0B60F-0BB5-454B-A09F-B9C45C56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 结果与边界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7E025-D873-49F1-A374-9FFCAF79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我们已经证明什么，以及不能声称什么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47A16E-53E9-4992-B310-33F16B51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4C493-7D9D-43F0-9DDE-C7D56E60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5B7181-CC95-4E93-9F54-4DDEC962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F75F2-0BAD-40CD-BF0E-DA20D034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53340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615044-4F2B-40B4-ABF4-6B3284C1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66675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58A2E0-2C62-4237-81D5-2AB77B679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491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可以明确说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10B52-BFAF-40A5-A4A3-2AA66315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09800"/>
            <a:ext cx="49149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✓ 机制链路可运行，mask 与事件同步生效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✓ 固定 test100 中 GPPO 优于 PPO baselines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✓ Event 大幅降低通信量并保持回放 makespan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✓ Gate 与扰动结果可审计、可追溯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9F489F-E656-4F1E-9860-7C751B72D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57150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B063B9-32BB-4A40-8EBE-07F3D086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19250"/>
            <a:ext cx="66675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17E"/>
          </a:solidFill>
          <a:ln xmlns:a="http://schemas.openxmlformats.org/drawingml/2006/main" w="9525">
            <a:solidFill>
              <a:srgbClr val="6671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38FAAE-019A-4E01-98F0-99B8E2D9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90700"/>
            <a:ext cx="529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不能过度声称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A43414-467E-40B6-A108-56AD4DD3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9800"/>
            <a:ext cx="5295900" cy="2990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× 不是原论文数值级完整复现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× 不能凭 seed1 判断 Gate 必然有效或无效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× 不能把工程 Best 当成论文 Literal</a:t>
            </a:r>
          </a:p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× 不能据此断定 GRPO / RLHF 一定改善任务分配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45D82A-EE4A-45F0-BB75-3600CD86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73651"/>
          </a:solidFill>
          <a:ln xmlns:a="http://schemas.openxmlformats.org/drawingml/2006/main" w="9525">
            <a:solidFill>
              <a:srgbClr val="17365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8CD33A-3032-4689-A1D1-3CA2F4D0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1025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定位：mechanism / structural reproduction（机制与结构复现），不是数值级复刻。</a:t>
            </a:r>
          </a:p>
        </p:txBody>
      </p:sp>
    </p:spTree>
    <p:extLst>
      <p:ext uri="{BB962C8B-B14F-4D97-AF65-F5344CB8AC3E}">
        <p14:creationId xmlns:p14="http://schemas.microsoft.com/office/powerpoint/2010/main" val="71394857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312294-D9D1-443A-A353-7ED3155E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A875C-476D-4539-9C95-ECE3D90A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04 后续计划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CB2987-ECE1-498C-B61D-0088616B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第二篇论文现在只做概念定位：偏好学习不是当前复现任务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39D779-E1F9-44FB-BCC0-8E135C4F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9675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24DB6F-892B-4B8D-A462-6807C1BC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91275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B4899-51A1-4DE7-B43E-4E2BCBFB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91275"/>
            <a:ext cx="485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NORTHEASTERN UNIVERSITY · STAGE REPORT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21D191-F862-40B1-94E3-FEA3CC36D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47625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B3C46D-B9D3-4AC1-915A-684B75DE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478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第一篇：任务分配策略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8D52FC-17D1-48A5-A18A-58EBBB72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4095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图状态 → Actor → UAV–task 动作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目标：弱通信下提高分配效率</a:t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更新：PPO + 图网络</a:t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监督信号：环境 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80578-DB93-4962-B1EE-7289196D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619250"/>
            <a:ext cx="4762500" cy="3390900"/>
          </a:xfrm>
          <a:prstGeom xmlns:a="http://schemas.openxmlformats.org/drawingml/2006/main" prst="roundRect">
            <a:avLst>
              <a:gd name="adj" fmla="val 2247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355F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E4EBD-5CA2-4BCC-8EFE-6CD2C929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478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355F86"/>
                </a:solidFill>
                <a:latin typeface="Microsoft YaHei"/>
                <a:ea typeface="Microsoft YaHei"/>
                <a:cs typeface="Microsoft YaHei"/>
              </a:rPr>
              <a:t>第二篇：偏好可控优化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2B3A0-5F6D-44F3-A7CA-815EDD3CE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4095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偏好 / 多目标 → 条件策略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目标：在多个目标间可控权衡</a:t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重点：奖励建模、Pareto 权衡</a:t>
            </a:r>
          </a:p>
          <a:p xmlns:a="http://schemas.openxmlformats.org/drawingml/2006/main">
            <a:pPr algn="l">
              <a:def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现阶段：理解接口与评价方式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C0BDB-C9E9-4F61-8F1C-4188C93A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57500"/>
            <a:ext cx="12573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5C1A5-0EC4-4B8D-9B72-8FDAB13D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908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候选研究</a:t>
            </a:r>
          </a:p>
          <a:p xmlns:a="http://schemas.openxmlformats.org/drawingml/2006/main">
            <a:pPr algn="ctr">
              <a:defRPr sz="12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4B50E-FC41-455C-954A-643E6A3E5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143250"/>
            <a:ext cx="190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cxnSp>
        <p:nvCxnSpPr>
          <p:cNvPr id="41" name=""/>
          <p:cNvCxnSpPr>
            <a:stCxn xmlns:a="http://schemas.openxmlformats.org/drawingml/2006/main" id="15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953000" y="3152775"/>
            <a:ext cx="514350" cy="66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arrow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894FFE-DBBA-4EDF-BB02-9FF138CC3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9050" cy="19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5F86"/>
          </a:solidFill>
          <a:ln xmlns:a="http://schemas.openxmlformats.org/drawingml/2006/main" w="9525">
            <a:solidFill>
              <a:srgbClr val="355F86"/>
            </a:solidFill>
            <a:prstDash val="solid"/>
          </a:ln>
        </p:spPr>
      </p:sp>
      <p:cxnSp>
        <p:nvCxnSpPr>
          <p:cNvPr id="43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6724650" y="3152775"/>
            <a:ext cx="514350" cy="66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55F86"/>
            </a:solidFill>
            <a:prstDash val="solid"/>
            <a:tailEnd type="arrow" w="sm" len="sm"/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A31B58-20F4-4F9A-9107-EE7D0670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7E36ED-E706-4272-80F9-994A0FE8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不复现第二篇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7FB39F-B030-4A2C-B985-97BE205D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467350"/>
            <a:ext cx="1847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BE1647-684A-47E1-BB62-E6C7E796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514975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不提前迁移 GRPO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DFE7E7-977C-4E3F-95BE-EC8627A2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4673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3F5F7"/>
          </a:solidFill>
          <a:ln xmlns:a="http://schemas.openxmlformats.org/drawingml/2006/main" w="9525">
            <a:solidFill>
              <a:srgbClr val="F3F5F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03C05B-FA73-41A6-8F1A-F5EF3537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只形成问题清单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C78304-FE30-4C2A-8AA4-5948DC8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11391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246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3651"/>
                </a:solidFill>
                <a:latin typeface="Microsoft YaHei"/>
                <a:ea typeface="Microsoft YaHei"/>
                <a:cs typeface="Microsoft YaHei"/>
              </a:rPr>
              <a:t>注意：GPPO 的 G = Graph；GRPO 的 G = Group Relative。两者不是同一种算法。</a:t>
            </a:r>
          </a:p>
        </p:txBody>
      </p:sp>
    </p:spTree>
    <p:extLst>
      <p:ext uri="{BB962C8B-B14F-4D97-AF65-F5344CB8AC3E}">
        <p14:creationId xmlns:p14="http://schemas.microsoft.com/office/powerpoint/2010/main" val="78935505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9776252-D52C-42A1-9B87-E871E39E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4336187294a69"/>
          <a:stretch xmlns:a="http://schemas.openxmlformats.org/drawingml/2006/main"/>
        </p:blipFill>
        <p:spPr>
          <a:xfrm xmlns:a="http://schemas.openxmlformats.org/drawingml/2006/main">
            <a:off x="11125200" y="307431"/>
            <a:ext cx="590550" cy="54718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AB5E4-7808-4CDB-B363-5ED8BEF9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04 后续计划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7CC3E-8E83-4E91-8983-51E8EFF5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3450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带着四个问题去开会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3ED19-C35A-497D-8D9A-A609AE08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E3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6144A-2979-42F0-A377-F9D1DE7F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EB546-AC52-49DE-90DB-0BD77326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118186-9939-4CA0-BC41-82F89CB9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9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05F0E-6D3F-4E4C-8F25-721673DC8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90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研究对象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4CDE26-8E4D-4022-B1C1-AA129365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908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继续改任务分配策略，还是转向语言模型式 RLHF？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794D10-9A62-449D-890F-2B1581A2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83C72-DE10-49DE-9384-27B23585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500813-F776-426C-B913-6B2F7CF2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2C2D66-32CB-44FC-9B71-D11723DA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算法接口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549014-A039-4A4B-98EA-9FE9BD488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5908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GRPO 要替换 PPO 的优势估计、分组采样还是更新目标？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BC134D-97FA-4AD5-8DFA-2B468761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D95746-E58E-4B8B-97FC-38EBE1DF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465D9E-90E0-4898-B773-7AB2B0B1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86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A0D179-B8FF-479C-B6C5-8C84F9EA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67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偏好来源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EFA31-1027-4DD6-91E8-12BDBBBA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人工标注、规则构造，还是由多目标指标自动生成？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1EB34F-7AE8-4593-A218-EE1C4D7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52959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837E25-8CC7-4100-8770-76DAE4B9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14750"/>
            <a:ext cx="57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9"/>
          </a:solidFill>
          <a:ln xmlns:a="http://schemas.openxmlformats.org/drawingml/2006/main" w="9525">
            <a:solidFill>
              <a:srgbClr val="1F4E7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2FE2B-B611-4E61-8403-C1ADCF82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862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FF0C8A-1FA1-446A-B035-FA85BFB66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867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评价标准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07B89E-4B5D-4AC9-9CB8-99BB9B26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17E"/>
                </a:solidFill>
                <a:latin typeface="Microsoft YaHei"/>
                <a:ea typeface="Microsoft YaHei"/>
                <a:cs typeface="Microsoft YaHei"/>
              </a:rPr>
              <a:t>makespan、通信、鲁棒性，还是 Pareto / 可控性？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946722-3226-4F1E-A8A9-4D5903046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57850"/>
            <a:ext cx="113919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9525">
            <a:solidFill>
              <a:srgbClr val="D8DD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5F0CC5-753A-42A5-91D0-B443CF4D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0934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C2533"/>
                </a:solidFill>
                <a:latin typeface="Microsoft YaHei"/>
                <a:ea typeface="Microsoft YaHei"/>
                <a:cs typeface="Microsoft YaHei"/>
              </a:rPr>
              <a:t>会前：复盘 300 轮 → 逐模块讲清代码 → 轻读 PCRL → 整理候选方向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B93827-652D-4BC7-9C13-FF3EF636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769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F4E79"/>
                </a:solidFill>
                <a:latin typeface="Microsoft YaHei"/>
                <a:ea typeface="Microsoft YaHei"/>
                <a:cs typeface="Microsoft YaHei"/>
              </a:rPr>
              <a:t>会后：确认研究对象和评价口径，再设计新的训练与对照实验</a:t>
            </a:r>
          </a:p>
        </p:txBody>
      </p:sp>
    </p:spTree>
    <p:extLst>
      <p:ext uri="{BB962C8B-B14F-4D97-AF65-F5344CB8AC3E}">
        <p14:creationId xmlns:p14="http://schemas.microsoft.com/office/powerpoint/2010/main" val="10421615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2026-08-11T13:34:39.7020000Z</dcterms:created>
  <dcterms:modified xsi:type="dcterms:W3CDTF">2026-08-11T13:34:39.7020000Z</dcterms:modified>
</coreProperties>
</file>